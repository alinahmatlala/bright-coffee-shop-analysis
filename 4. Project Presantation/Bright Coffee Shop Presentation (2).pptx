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Bold" charset="1" panose="00000800000000000000"/>
      <p:regular r:id="rId19"/>
    </p:embeddedFont>
    <p:embeddedFont>
      <p:font typeface="Poppins" charset="1" panose="00000500000000000000"/>
      <p:regular r:id="rId20"/>
    </p:embeddedFont>
    <p:embeddedFont>
      <p:font typeface="Canva Sans Bold" charset="1" panose="020B0803030501040103"/>
      <p:regular r:id="rId21"/>
    </p:embeddedFont>
    <p:embeddedFont>
      <p:font typeface="Canva Sans" charset="1" panose="020B0503030501040103"/>
      <p:regular r:id="rId22"/>
    </p:embeddedFont>
    <p:embeddedFont>
      <p:font typeface="Poppins Semi-Bold" charset="1" panose="000007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20.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32.png" Type="http://schemas.openxmlformats.org/officeDocument/2006/relationships/image"/><Relationship Id="rId15" Target="../media/image3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2" Target="../media/image20.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2221069" y="7519579"/>
            <a:ext cx="7315200" cy="3477441"/>
          </a:xfrm>
          <a:custGeom>
            <a:avLst/>
            <a:gdLst/>
            <a:ahLst/>
            <a:cxnLst/>
            <a:rect r="r" b="b" t="t" l="l"/>
            <a:pathLst>
              <a:path h="3477441" w="7315200">
                <a:moveTo>
                  <a:pt x="0" y="0"/>
                </a:moveTo>
                <a:lnTo>
                  <a:pt x="7315200" y="0"/>
                </a:lnTo>
                <a:lnTo>
                  <a:pt x="7315200" y="3477442"/>
                </a:lnTo>
                <a:lnTo>
                  <a:pt x="0" y="3477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15751" y="7519579"/>
            <a:ext cx="7315200" cy="3477441"/>
          </a:xfrm>
          <a:custGeom>
            <a:avLst/>
            <a:gdLst/>
            <a:ahLst/>
            <a:cxnLst/>
            <a:rect r="r" b="b" t="t" l="l"/>
            <a:pathLst>
              <a:path h="3477441" w="7315200">
                <a:moveTo>
                  <a:pt x="7315200" y="0"/>
                </a:moveTo>
                <a:lnTo>
                  <a:pt x="0" y="0"/>
                </a:lnTo>
                <a:lnTo>
                  <a:pt x="0" y="3477442"/>
                </a:lnTo>
                <a:lnTo>
                  <a:pt x="7315200" y="3477442"/>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062901" y="1028700"/>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224354" y="1697569"/>
            <a:ext cx="11287790" cy="4319153"/>
          </a:xfrm>
          <a:prstGeom prst="rect">
            <a:avLst/>
          </a:prstGeom>
        </p:spPr>
        <p:txBody>
          <a:bodyPr anchor="t" rtlCol="false" tIns="0" lIns="0" bIns="0" rIns="0">
            <a:spAutoFit/>
          </a:bodyPr>
          <a:lstStyle/>
          <a:p>
            <a:pPr algn="r">
              <a:lnSpc>
                <a:spcPts val="11418"/>
              </a:lnSpc>
            </a:pPr>
            <a:r>
              <a:rPr lang="en-US" sz="8155" b="true">
                <a:solidFill>
                  <a:srgbClr val="512615"/>
                </a:solidFill>
                <a:latin typeface="Poppins Bold"/>
                <a:ea typeface="Poppins Bold"/>
                <a:cs typeface="Poppins Bold"/>
                <a:sym typeface="Poppins Bold"/>
              </a:rPr>
              <a:t>Bright Coffee Shop Sales Analysis.</a:t>
            </a:r>
          </a:p>
          <a:p>
            <a:pPr algn="r">
              <a:lnSpc>
                <a:spcPts val="11418"/>
              </a:lnSpc>
              <a:spcBef>
                <a:spcPct val="0"/>
              </a:spcBef>
            </a:pPr>
            <a:r>
              <a:rPr lang="en-US" b="true" sz="8155">
                <a:solidFill>
                  <a:srgbClr val="512615"/>
                </a:solidFill>
                <a:latin typeface="Poppins Bold"/>
                <a:ea typeface="Poppins Bold"/>
                <a:cs typeface="Poppins Bold"/>
                <a:sym typeface="Poppins Bold"/>
              </a:rPr>
              <a:t> </a:t>
            </a:r>
          </a:p>
        </p:txBody>
      </p:sp>
      <p:sp>
        <p:nvSpPr>
          <p:cNvPr name="Freeform 7" id="7"/>
          <p:cNvSpPr/>
          <p:nvPr/>
        </p:nvSpPr>
        <p:spPr>
          <a:xfrm flipH="false" flipV="false" rot="0">
            <a:off x="-912737" y="-432626"/>
            <a:ext cx="3882875" cy="4114800"/>
          </a:xfrm>
          <a:custGeom>
            <a:avLst/>
            <a:gdLst/>
            <a:ahLst/>
            <a:cxnLst/>
            <a:rect r="r" b="b" t="t" l="l"/>
            <a:pathLst>
              <a:path h="4114800" w="3882875">
                <a:moveTo>
                  <a:pt x="0" y="0"/>
                </a:moveTo>
                <a:lnTo>
                  <a:pt x="3882874" y="0"/>
                </a:lnTo>
                <a:lnTo>
                  <a:pt x="3882874"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4252412" y="4769590"/>
            <a:ext cx="9783175" cy="1095375"/>
          </a:xfrm>
          <a:prstGeom prst="rect">
            <a:avLst/>
          </a:prstGeom>
        </p:spPr>
        <p:txBody>
          <a:bodyPr anchor="t" rtlCol="false" tIns="0" lIns="0" bIns="0" rIns="0">
            <a:spAutoFit/>
          </a:bodyPr>
          <a:lstStyle/>
          <a:p>
            <a:pPr algn="ctr">
              <a:lnSpc>
                <a:spcPts val="8400"/>
              </a:lnSpc>
              <a:spcBef>
                <a:spcPct val="0"/>
              </a:spcBef>
            </a:pPr>
            <a:r>
              <a:rPr lang="en-US" sz="6000">
                <a:solidFill>
                  <a:srgbClr val="512615"/>
                </a:solidFill>
                <a:latin typeface="Poppins"/>
                <a:ea typeface="Poppins"/>
                <a:cs typeface="Poppins"/>
                <a:sym typeface="Poppins"/>
              </a:rPr>
              <a:t>THE WORLD OF</a:t>
            </a:r>
          </a:p>
        </p:txBody>
      </p:sp>
      <p:sp>
        <p:nvSpPr>
          <p:cNvPr name="TextBox 9" id="9"/>
          <p:cNvSpPr txBox="true"/>
          <p:nvPr/>
        </p:nvSpPr>
        <p:spPr>
          <a:xfrm rot="0">
            <a:off x="5682440" y="5241585"/>
            <a:ext cx="6805387" cy="2080573"/>
          </a:xfrm>
          <a:prstGeom prst="rect">
            <a:avLst/>
          </a:prstGeom>
        </p:spPr>
        <p:txBody>
          <a:bodyPr anchor="t" rtlCol="false" tIns="0" lIns="0" bIns="0" rIns="0">
            <a:spAutoFit/>
          </a:bodyPr>
          <a:lstStyle/>
          <a:p>
            <a:pPr algn="ctr">
              <a:lnSpc>
                <a:spcPts val="16101"/>
              </a:lnSpc>
              <a:spcBef>
                <a:spcPct val="0"/>
              </a:spcBef>
            </a:pPr>
            <a:r>
              <a:rPr lang="en-US" b="true" sz="11501">
                <a:solidFill>
                  <a:srgbClr val="512615"/>
                </a:solidFill>
                <a:latin typeface="Poppins Bold"/>
                <a:ea typeface="Poppins Bold"/>
                <a:cs typeface="Poppins Bold"/>
                <a:sym typeface="Poppins Bold"/>
              </a:rPr>
              <a:t>COFFEE</a:t>
            </a:r>
          </a:p>
        </p:txBody>
      </p:sp>
      <p:sp>
        <p:nvSpPr>
          <p:cNvPr name="Freeform 10" id="10"/>
          <p:cNvSpPr/>
          <p:nvPr/>
        </p:nvSpPr>
        <p:spPr>
          <a:xfrm flipH="true" flipV="false" rot="0">
            <a:off x="15315393" y="-432626"/>
            <a:ext cx="3882875" cy="4114800"/>
          </a:xfrm>
          <a:custGeom>
            <a:avLst/>
            <a:gdLst/>
            <a:ahLst/>
            <a:cxnLst/>
            <a:rect r="r" b="b" t="t" l="l"/>
            <a:pathLst>
              <a:path h="4114800" w="3882875">
                <a:moveTo>
                  <a:pt x="3882875" y="0"/>
                </a:moveTo>
                <a:lnTo>
                  <a:pt x="0" y="0"/>
                </a:lnTo>
                <a:lnTo>
                  <a:pt x="0" y="4114800"/>
                </a:lnTo>
                <a:lnTo>
                  <a:pt x="3882875" y="4114800"/>
                </a:lnTo>
                <a:lnTo>
                  <a:pt x="388287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8613996" y="1183449"/>
            <a:ext cx="3607074"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0896863" y="2386076"/>
            <a:ext cx="5514847" cy="551484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 id="5"/>
            <p:cNvSpPr txBox="true"/>
            <p:nvPr/>
          </p:nvSpPr>
          <p:spPr>
            <a:xfrm>
              <a:off x="76200" y="9525"/>
              <a:ext cx="660400" cy="727075"/>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11077808" y="2567022"/>
            <a:ext cx="5152957" cy="51529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4931" t="0" r="-24931" b="0"/>
              </a:stretch>
            </a:blipFill>
          </p:spPr>
        </p:sp>
      </p:grpSp>
      <p:sp>
        <p:nvSpPr>
          <p:cNvPr name="TextBox 8" id="8"/>
          <p:cNvSpPr txBox="true"/>
          <p:nvPr/>
        </p:nvSpPr>
        <p:spPr>
          <a:xfrm rot="0">
            <a:off x="550553" y="3198132"/>
            <a:ext cx="10243109" cy="4521847"/>
          </a:xfrm>
          <a:prstGeom prst="rect">
            <a:avLst/>
          </a:prstGeom>
        </p:spPr>
        <p:txBody>
          <a:bodyPr anchor="t" rtlCol="false" tIns="0" lIns="0" bIns="0" rIns="0">
            <a:spAutoFit/>
          </a:bodyPr>
          <a:lstStyle/>
          <a:p>
            <a:pPr algn="just">
              <a:lnSpc>
                <a:spcPts val="5930"/>
              </a:lnSpc>
            </a:pPr>
            <a:r>
              <a:rPr lang="en-US" sz="4235">
                <a:solidFill>
                  <a:srgbClr val="512615"/>
                </a:solidFill>
                <a:latin typeface="Poppins"/>
                <a:ea typeface="Poppins"/>
                <a:cs typeface="Poppins"/>
                <a:sym typeface="Poppins"/>
              </a:rPr>
              <a:t>TABLE OF CONTENTS</a:t>
            </a:r>
          </a:p>
          <a:p>
            <a:pPr algn="l" marL="914491" indent="-457246" lvl="1">
              <a:lnSpc>
                <a:spcPts val="5930"/>
              </a:lnSpc>
              <a:buFont typeface="Arial"/>
              <a:buChar char="•"/>
            </a:pPr>
            <a:r>
              <a:rPr lang="en-US" sz="4235">
                <a:solidFill>
                  <a:srgbClr val="512615"/>
                </a:solidFill>
                <a:latin typeface="Poppins"/>
                <a:ea typeface="Poppins"/>
                <a:cs typeface="Poppins"/>
                <a:sym typeface="Poppins"/>
              </a:rPr>
              <a:t>Overview</a:t>
            </a:r>
          </a:p>
          <a:p>
            <a:pPr algn="l" marL="914491" indent="-457246" lvl="1">
              <a:lnSpc>
                <a:spcPts val="5930"/>
              </a:lnSpc>
              <a:buFont typeface="Arial"/>
              <a:buChar char="•"/>
            </a:pPr>
            <a:r>
              <a:rPr lang="en-US" sz="4235">
                <a:solidFill>
                  <a:srgbClr val="512615"/>
                </a:solidFill>
                <a:latin typeface="Poppins"/>
                <a:ea typeface="Poppins"/>
                <a:cs typeface="Poppins"/>
                <a:sym typeface="Poppins"/>
              </a:rPr>
              <a:t>Performance deep dive</a:t>
            </a:r>
          </a:p>
          <a:p>
            <a:pPr algn="l" marL="914491" indent="-457246" lvl="1">
              <a:lnSpc>
                <a:spcPts val="5930"/>
              </a:lnSpc>
              <a:buFont typeface="Arial"/>
              <a:buChar char="•"/>
            </a:pPr>
            <a:r>
              <a:rPr lang="en-US" sz="4235">
                <a:solidFill>
                  <a:srgbClr val="512615"/>
                </a:solidFill>
                <a:latin typeface="Poppins"/>
                <a:ea typeface="Poppins"/>
                <a:cs typeface="Poppins"/>
                <a:sym typeface="Poppins"/>
              </a:rPr>
              <a:t>Key findings</a:t>
            </a:r>
          </a:p>
          <a:p>
            <a:pPr algn="l" marL="914491" indent="-457246" lvl="1">
              <a:lnSpc>
                <a:spcPts val="5930"/>
              </a:lnSpc>
              <a:buFont typeface="Arial"/>
              <a:buChar char="•"/>
            </a:pPr>
            <a:r>
              <a:rPr lang="en-US" sz="4235">
                <a:solidFill>
                  <a:srgbClr val="512615"/>
                </a:solidFill>
                <a:latin typeface="Poppins"/>
                <a:ea typeface="Poppins"/>
                <a:cs typeface="Poppins"/>
                <a:sym typeface="Poppins"/>
              </a:rPr>
              <a:t>Recommendations </a:t>
            </a:r>
          </a:p>
          <a:p>
            <a:pPr algn="l" marL="914491" indent="-457246" lvl="1">
              <a:lnSpc>
                <a:spcPts val="5930"/>
              </a:lnSpc>
              <a:buFont typeface="Arial"/>
              <a:buChar char="•"/>
            </a:pPr>
            <a:r>
              <a:rPr lang="en-US" sz="4235">
                <a:solidFill>
                  <a:srgbClr val="512615"/>
                </a:solidFill>
                <a:latin typeface="Poppins"/>
                <a:ea typeface="Poppins"/>
                <a:cs typeface="Poppins"/>
                <a:sym typeface="Poppins"/>
              </a:rPr>
              <a:t>Q &amp; A</a:t>
            </a:r>
          </a:p>
        </p:txBody>
      </p:sp>
      <p:sp>
        <p:nvSpPr>
          <p:cNvPr name="Freeform 9" id="9"/>
          <p:cNvSpPr/>
          <p:nvPr/>
        </p:nvSpPr>
        <p:spPr>
          <a:xfrm flipH="false" flipV="false" rot="0">
            <a:off x="15218089" y="7868448"/>
            <a:ext cx="2480566" cy="2418552"/>
          </a:xfrm>
          <a:custGeom>
            <a:avLst/>
            <a:gdLst/>
            <a:ahLst/>
            <a:cxnLst/>
            <a:rect r="r" b="b" t="t" l="l"/>
            <a:pathLst>
              <a:path h="2418552" w="2480566">
                <a:moveTo>
                  <a:pt x="0" y="0"/>
                </a:moveTo>
                <a:lnTo>
                  <a:pt x="2480567" y="0"/>
                </a:lnTo>
                <a:lnTo>
                  <a:pt x="2480567" y="2418552"/>
                </a:lnTo>
                <a:lnTo>
                  <a:pt x="0" y="24185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15836558" y="570531"/>
            <a:ext cx="1862098" cy="1815546"/>
          </a:xfrm>
          <a:custGeom>
            <a:avLst/>
            <a:gdLst/>
            <a:ahLst/>
            <a:cxnLst/>
            <a:rect r="r" b="b" t="t" l="l"/>
            <a:pathLst>
              <a:path h="1815546" w="1862098">
                <a:moveTo>
                  <a:pt x="1862098" y="0"/>
                </a:moveTo>
                <a:lnTo>
                  <a:pt x="0" y="0"/>
                </a:lnTo>
                <a:lnTo>
                  <a:pt x="0" y="1815545"/>
                </a:lnTo>
                <a:lnTo>
                  <a:pt x="1862098" y="1815545"/>
                </a:lnTo>
                <a:lnTo>
                  <a:pt x="186209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28700" y="1028700"/>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522134" y="1183449"/>
            <a:ext cx="3607074"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028700" y="1028700"/>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685281" y="2812637"/>
            <a:ext cx="6574019" cy="7474363"/>
            <a:chOff x="0" y="0"/>
            <a:chExt cx="7516465" cy="8545882"/>
          </a:xfrm>
        </p:grpSpPr>
        <p:sp>
          <p:nvSpPr>
            <p:cNvPr name="Freeform 5" id="5"/>
            <p:cNvSpPr/>
            <p:nvPr/>
          </p:nvSpPr>
          <p:spPr>
            <a:xfrm flipH="false" flipV="false" rot="0">
              <a:off x="0" y="0"/>
              <a:ext cx="7516465" cy="8444281"/>
            </a:xfrm>
            <a:custGeom>
              <a:avLst/>
              <a:gdLst/>
              <a:ahLst/>
              <a:cxnLst/>
              <a:rect r="r" b="b" t="t" l="l"/>
              <a:pathLst>
                <a:path h="8444281" w="7516465">
                  <a:moveTo>
                    <a:pt x="0" y="0"/>
                  </a:moveTo>
                  <a:lnTo>
                    <a:pt x="7516465" y="0"/>
                  </a:lnTo>
                  <a:lnTo>
                    <a:pt x="7516465" y="8444281"/>
                  </a:lnTo>
                  <a:lnTo>
                    <a:pt x="0" y="8444281"/>
                  </a:lnTo>
                  <a:close/>
                </a:path>
              </a:pathLst>
            </a:custGeom>
            <a:solidFill>
              <a:srgbClr val="F2F2F2">
                <a:alpha val="89804"/>
              </a:srgbClr>
            </a:solidFill>
          </p:spPr>
        </p:sp>
        <p:sp>
          <p:nvSpPr>
            <p:cNvPr name="Freeform 6" id="6"/>
            <p:cNvSpPr/>
            <p:nvPr/>
          </p:nvSpPr>
          <p:spPr>
            <a:xfrm flipH="false" flipV="false" rot="0">
              <a:off x="0" y="0"/>
              <a:ext cx="7516465" cy="8545881"/>
            </a:xfrm>
            <a:custGeom>
              <a:avLst/>
              <a:gdLst/>
              <a:ahLst/>
              <a:cxnLst/>
              <a:rect r="r" b="b" t="t" l="l"/>
              <a:pathLst>
                <a:path h="8545881" w="7516465">
                  <a:moveTo>
                    <a:pt x="0" y="8444281"/>
                  </a:moveTo>
                  <a:lnTo>
                    <a:pt x="7516465" y="8444281"/>
                  </a:lnTo>
                  <a:lnTo>
                    <a:pt x="7389465" y="8545881"/>
                  </a:lnTo>
                  <a:cubicBezTo>
                    <a:pt x="7389465" y="8545881"/>
                    <a:pt x="6398865" y="8469681"/>
                    <a:pt x="6297265" y="8469681"/>
                  </a:cubicBezTo>
                  <a:lnTo>
                    <a:pt x="1219200" y="8469681"/>
                  </a:lnTo>
                  <a:cubicBezTo>
                    <a:pt x="1117600" y="8469681"/>
                    <a:pt x="127000" y="8545881"/>
                    <a:pt x="127000" y="8545881"/>
                  </a:cubicBezTo>
                  <a:lnTo>
                    <a:pt x="0" y="8444281"/>
                  </a:lnTo>
                  <a:lnTo>
                    <a:pt x="0" y="0"/>
                  </a:lnTo>
                  <a:lnTo>
                    <a:pt x="7516465" y="0"/>
                  </a:lnTo>
                  <a:lnTo>
                    <a:pt x="7516465" y="8444281"/>
                  </a:lnTo>
                  <a:lnTo>
                    <a:pt x="12700" y="8444281"/>
                  </a:lnTo>
                  <a:lnTo>
                    <a:pt x="12700" y="8431581"/>
                  </a:lnTo>
                  <a:lnTo>
                    <a:pt x="7503765" y="8431581"/>
                  </a:lnTo>
                  <a:lnTo>
                    <a:pt x="7503765" y="12700"/>
                  </a:lnTo>
                  <a:lnTo>
                    <a:pt x="12700" y="12700"/>
                  </a:lnTo>
                  <a:lnTo>
                    <a:pt x="12700" y="8444281"/>
                  </a:lnTo>
                </a:path>
              </a:pathLst>
            </a:custGeom>
            <a:solidFill>
              <a:srgbClr val="394C60">
                <a:alpha val="784"/>
              </a:srgbClr>
            </a:solidFill>
          </p:spPr>
        </p:sp>
        <p:sp>
          <p:nvSpPr>
            <p:cNvPr name="TextBox 7" id="7"/>
            <p:cNvSpPr txBox="true"/>
            <p:nvPr/>
          </p:nvSpPr>
          <p:spPr>
            <a:xfrm>
              <a:off x="0" y="-85725"/>
              <a:ext cx="7516465" cy="8072807"/>
            </a:xfrm>
            <a:prstGeom prst="rect">
              <a:avLst/>
            </a:prstGeom>
          </p:spPr>
          <p:txBody>
            <a:bodyPr anchor="t" rtlCol="false" tIns="236963" lIns="236963" bIns="236963" rIns="236963"/>
            <a:lstStyle/>
            <a:p>
              <a:pPr algn="l">
                <a:lnSpc>
                  <a:spcPts val="5224"/>
                </a:lnSpc>
              </a:pPr>
              <a:r>
                <a:rPr lang="en-US" sz="3731" b="true">
                  <a:solidFill>
                    <a:srgbClr val="512615">
                      <a:alpha val="89804"/>
                    </a:srgbClr>
                  </a:solidFill>
                  <a:latin typeface="Canva Sans Bold"/>
                  <a:ea typeface="Canva Sans Bold"/>
                  <a:cs typeface="Canva Sans Bold"/>
                  <a:sym typeface="Canva Sans Bold"/>
                </a:rPr>
                <a:t>Product categories:</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Bakery</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Branded</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Coffee</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Coffee beans</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Drinking Chocolate</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Flavours</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Loose tea</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Packaged Chocolate</a:t>
              </a:r>
            </a:p>
            <a:p>
              <a:pPr algn="l" marL="805661" indent="-402831" lvl="1">
                <a:lnSpc>
                  <a:spcPts val="5224"/>
                </a:lnSpc>
                <a:buFont typeface="Arial"/>
                <a:buChar char="•"/>
              </a:pPr>
              <a:r>
                <a:rPr lang="en-US" sz="3731">
                  <a:solidFill>
                    <a:srgbClr val="512615">
                      <a:alpha val="89804"/>
                    </a:srgbClr>
                  </a:solidFill>
                  <a:latin typeface="Canva Sans"/>
                  <a:ea typeface="Canva Sans"/>
                  <a:cs typeface="Canva Sans"/>
                  <a:sym typeface="Canva Sans"/>
                </a:rPr>
                <a:t>Tea</a:t>
              </a:r>
            </a:p>
          </p:txBody>
        </p:sp>
      </p:grpSp>
      <p:sp>
        <p:nvSpPr>
          <p:cNvPr name="TextBox 8" id="8"/>
          <p:cNvSpPr txBox="true"/>
          <p:nvPr/>
        </p:nvSpPr>
        <p:spPr>
          <a:xfrm rot="0">
            <a:off x="410605" y="3278282"/>
            <a:ext cx="9400893" cy="6136263"/>
          </a:xfrm>
          <a:prstGeom prst="rect">
            <a:avLst/>
          </a:prstGeom>
        </p:spPr>
        <p:txBody>
          <a:bodyPr anchor="t" rtlCol="false" tIns="0" lIns="0" bIns="0" rIns="0">
            <a:spAutoFit/>
          </a:bodyPr>
          <a:lstStyle/>
          <a:p>
            <a:pPr algn="just">
              <a:lnSpc>
                <a:spcPts val="5409"/>
              </a:lnSpc>
            </a:pPr>
            <a:r>
              <a:rPr lang="en-US" sz="3864">
                <a:solidFill>
                  <a:srgbClr val="512615"/>
                </a:solidFill>
                <a:latin typeface="Poppins"/>
                <a:ea typeface="Poppins"/>
                <a:cs typeface="Poppins"/>
                <a:sym typeface="Poppins"/>
              </a:rPr>
              <a:t>The Total revenue stands at </a:t>
            </a:r>
            <a:r>
              <a:rPr lang="en-US" sz="3864" b="true">
                <a:solidFill>
                  <a:srgbClr val="512615"/>
                </a:solidFill>
                <a:latin typeface="Poppins Bold"/>
                <a:ea typeface="Poppins Bold"/>
                <a:cs typeface="Poppins Bold"/>
                <a:sym typeface="Poppins Bold"/>
              </a:rPr>
              <a:t>R698</a:t>
            </a:r>
            <a:r>
              <a:rPr lang="en-US" sz="3864">
                <a:solidFill>
                  <a:srgbClr val="512615"/>
                </a:solidFill>
                <a:latin typeface="Poppins"/>
                <a:ea typeface="Poppins"/>
                <a:cs typeface="Poppins"/>
                <a:sym typeface="Poppins"/>
              </a:rPr>
              <a:t> </a:t>
            </a:r>
            <a:r>
              <a:rPr lang="en-US" sz="3864" b="true">
                <a:solidFill>
                  <a:srgbClr val="512615"/>
                </a:solidFill>
                <a:latin typeface="Poppins Bold"/>
                <a:ea typeface="Poppins Bold"/>
                <a:cs typeface="Poppins Bold"/>
                <a:sym typeface="Poppins Bold"/>
              </a:rPr>
              <a:t>812.33</a:t>
            </a:r>
            <a:r>
              <a:rPr lang="en-US" sz="3864">
                <a:solidFill>
                  <a:srgbClr val="512615"/>
                </a:solidFill>
                <a:latin typeface="Poppins"/>
                <a:ea typeface="Poppins"/>
                <a:cs typeface="Poppins"/>
                <a:sym typeface="Poppins"/>
              </a:rPr>
              <a:t> with a declining trend requiring immediate attention. We have nine product categories in each store, and only two are performing well.</a:t>
            </a:r>
          </a:p>
          <a:p>
            <a:pPr algn="just">
              <a:lnSpc>
                <a:spcPts val="5409"/>
              </a:lnSpc>
            </a:pPr>
            <a:r>
              <a:rPr lang="en-US" sz="3864" b="true">
                <a:solidFill>
                  <a:srgbClr val="512615"/>
                </a:solidFill>
                <a:latin typeface="Poppins Bold"/>
                <a:ea typeface="Poppins Bold"/>
                <a:cs typeface="Poppins Bold"/>
                <a:sym typeface="Poppins Bold"/>
              </a:rPr>
              <a:t>Stores:</a:t>
            </a:r>
          </a:p>
          <a:p>
            <a:pPr algn="just">
              <a:lnSpc>
                <a:spcPts val="5409"/>
              </a:lnSpc>
            </a:pPr>
            <a:r>
              <a:rPr lang="en-US" sz="3864">
                <a:solidFill>
                  <a:srgbClr val="512615"/>
                </a:solidFill>
                <a:latin typeface="Poppins"/>
                <a:ea typeface="Poppins"/>
                <a:cs typeface="Poppins"/>
                <a:sym typeface="Poppins"/>
              </a:rPr>
              <a:t>ASTORIA.</a:t>
            </a:r>
          </a:p>
          <a:p>
            <a:pPr algn="just">
              <a:lnSpc>
                <a:spcPts val="5409"/>
              </a:lnSpc>
            </a:pPr>
            <a:r>
              <a:rPr lang="en-US" sz="3864">
                <a:solidFill>
                  <a:srgbClr val="512615"/>
                </a:solidFill>
                <a:latin typeface="Poppins"/>
                <a:ea typeface="Poppins"/>
                <a:cs typeface="Poppins"/>
                <a:sym typeface="Poppins"/>
              </a:rPr>
              <a:t>HELL’S KITCHEN.</a:t>
            </a:r>
          </a:p>
          <a:p>
            <a:pPr algn="just">
              <a:lnSpc>
                <a:spcPts val="5409"/>
              </a:lnSpc>
              <a:spcBef>
                <a:spcPct val="0"/>
              </a:spcBef>
            </a:pPr>
            <a:r>
              <a:rPr lang="en-US" sz="3864">
                <a:solidFill>
                  <a:srgbClr val="512615"/>
                </a:solidFill>
                <a:latin typeface="Poppins"/>
                <a:ea typeface="Poppins"/>
                <a:cs typeface="Poppins"/>
                <a:sym typeface="Poppins"/>
              </a:rPr>
              <a:t>LOWER MANHATTAN.</a:t>
            </a:r>
          </a:p>
        </p:txBody>
      </p:sp>
      <p:sp>
        <p:nvSpPr>
          <p:cNvPr name="TextBox 9" id="9"/>
          <p:cNvSpPr txBox="true"/>
          <p:nvPr/>
        </p:nvSpPr>
        <p:spPr>
          <a:xfrm rot="0">
            <a:off x="1379707" y="2290350"/>
            <a:ext cx="7267710" cy="901700"/>
          </a:xfrm>
          <a:prstGeom prst="rect">
            <a:avLst/>
          </a:prstGeom>
        </p:spPr>
        <p:txBody>
          <a:bodyPr anchor="t" rtlCol="false" tIns="0" lIns="0" bIns="0" rIns="0">
            <a:spAutoFit/>
          </a:bodyPr>
          <a:lstStyle/>
          <a:p>
            <a:pPr algn="l">
              <a:lnSpc>
                <a:spcPts val="7000"/>
              </a:lnSpc>
              <a:spcBef>
                <a:spcPct val="0"/>
              </a:spcBef>
            </a:pPr>
            <a:r>
              <a:rPr lang="en-US" b="true" sz="5000">
                <a:solidFill>
                  <a:srgbClr val="512615"/>
                </a:solidFill>
                <a:latin typeface="Poppins Bold"/>
                <a:ea typeface="Poppins Bold"/>
                <a:cs typeface="Poppins Bold"/>
                <a:sym typeface="Poppins Bold"/>
              </a:rPr>
              <a:t>OVERVIEW</a:t>
            </a:r>
          </a:p>
        </p:txBody>
      </p:sp>
      <p:sp>
        <p:nvSpPr>
          <p:cNvPr name="TextBox 10" id="10"/>
          <p:cNvSpPr txBox="true"/>
          <p:nvPr/>
        </p:nvSpPr>
        <p:spPr>
          <a:xfrm rot="0">
            <a:off x="1947345" y="1183449"/>
            <a:ext cx="3066217"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028700" y="1028700"/>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0" y="3331646"/>
            <a:ext cx="8502964" cy="4682277"/>
          </a:xfrm>
          <a:prstGeom prst="rect">
            <a:avLst/>
          </a:prstGeom>
        </p:spPr>
        <p:txBody>
          <a:bodyPr anchor="t" rtlCol="false" tIns="0" lIns="0" bIns="0" rIns="0">
            <a:spAutoFit/>
          </a:bodyPr>
          <a:lstStyle/>
          <a:p>
            <a:pPr algn="just">
              <a:lnSpc>
                <a:spcPts val="4664"/>
              </a:lnSpc>
              <a:spcBef>
                <a:spcPct val="0"/>
              </a:spcBef>
            </a:pPr>
            <a:r>
              <a:rPr lang="en-US" sz="3331">
                <a:solidFill>
                  <a:srgbClr val="512615"/>
                </a:solidFill>
                <a:latin typeface="Poppins"/>
                <a:ea typeface="Poppins"/>
                <a:cs typeface="Poppins"/>
                <a:sym typeface="Poppins"/>
              </a:rPr>
              <a:t>Hell’s Kitchen slightly outperforms the other locations, contributing 33.84% of total revenue, followed closely by Astoria and Lower Manhattan at 33.23% and 32.92% respectively. However, the differences are minimal(less than 1%), indicating balanced performance across all stores. </a:t>
            </a:r>
          </a:p>
        </p:txBody>
      </p:sp>
      <p:sp>
        <p:nvSpPr>
          <p:cNvPr name="TextBox 5" id="5"/>
          <p:cNvSpPr txBox="true"/>
          <p:nvPr/>
        </p:nvSpPr>
        <p:spPr>
          <a:xfrm rot="0">
            <a:off x="435417" y="1998028"/>
            <a:ext cx="8708583" cy="901700"/>
          </a:xfrm>
          <a:prstGeom prst="rect">
            <a:avLst/>
          </a:prstGeom>
        </p:spPr>
        <p:txBody>
          <a:bodyPr anchor="t" rtlCol="false" tIns="0" lIns="0" bIns="0" rIns="0">
            <a:spAutoFit/>
          </a:bodyPr>
          <a:lstStyle/>
          <a:p>
            <a:pPr algn="l">
              <a:lnSpc>
                <a:spcPts val="7000"/>
              </a:lnSpc>
              <a:spcBef>
                <a:spcPct val="0"/>
              </a:spcBef>
            </a:pPr>
            <a:r>
              <a:rPr lang="en-US" b="true" sz="5000">
                <a:solidFill>
                  <a:srgbClr val="512615"/>
                </a:solidFill>
                <a:latin typeface="Poppins Bold"/>
                <a:ea typeface="Poppins Bold"/>
                <a:cs typeface="Poppins Bold"/>
                <a:sym typeface="Poppins Bold"/>
              </a:rPr>
              <a:t>PERFORMANCE DEEP DIVE</a:t>
            </a:r>
          </a:p>
        </p:txBody>
      </p:sp>
      <p:sp>
        <p:nvSpPr>
          <p:cNvPr name="TextBox 6" id="6"/>
          <p:cNvSpPr txBox="true"/>
          <p:nvPr/>
        </p:nvSpPr>
        <p:spPr>
          <a:xfrm rot="0">
            <a:off x="1730715" y="1183449"/>
            <a:ext cx="3224077"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
        <p:nvSpPr>
          <p:cNvPr name="Freeform 7" id="7"/>
          <p:cNvSpPr/>
          <p:nvPr/>
        </p:nvSpPr>
        <p:spPr>
          <a:xfrm flipH="false" flipV="false" rot="0">
            <a:off x="8837049" y="3220670"/>
            <a:ext cx="9158836" cy="6037630"/>
          </a:xfrm>
          <a:custGeom>
            <a:avLst/>
            <a:gdLst/>
            <a:ahLst/>
            <a:cxnLst/>
            <a:rect r="r" b="b" t="t" l="l"/>
            <a:pathLst>
              <a:path h="6037630" w="9158836">
                <a:moveTo>
                  <a:pt x="0" y="0"/>
                </a:moveTo>
                <a:lnTo>
                  <a:pt x="9158836" y="0"/>
                </a:lnTo>
                <a:lnTo>
                  <a:pt x="9158836" y="6037630"/>
                </a:lnTo>
                <a:lnTo>
                  <a:pt x="0" y="6037630"/>
                </a:lnTo>
                <a:lnTo>
                  <a:pt x="0" y="0"/>
                </a:lnTo>
                <a:close/>
              </a:path>
            </a:pathLst>
          </a:custGeom>
          <a:blipFill>
            <a:blip r:embed="rId5"/>
            <a:stretch>
              <a:fillRect l="-1501" t="-10559" r="-1501"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028700" y="1028700"/>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0" y="3331646"/>
            <a:ext cx="8502964" cy="7018106"/>
          </a:xfrm>
          <a:prstGeom prst="rect">
            <a:avLst/>
          </a:prstGeom>
        </p:spPr>
        <p:txBody>
          <a:bodyPr anchor="t" rtlCol="false" tIns="0" lIns="0" bIns="0" rIns="0">
            <a:spAutoFit/>
          </a:bodyPr>
          <a:lstStyle/>
          <a:p>
            <a:pPr algn="just">
              <a:lnSpc>
                <a:spcPts val="4664"/>
              </a:lnSpc>
              <a:spcBef>
                <a:spcPct val="0"/>
              </a:spcBef>
            </a:pPr>
            <a:r>
              <a:rPr lang="en-US" sz="3331">
                <a:solidFill>
                  <a:srgbClr val="512615"/>
                </a:solidFill>
                <a:latin typeface="Poppins"/>
                <a:ea typeface="Poppins"/>
                <a:cs typeface="Poppins"/>
                <a:sym typeface="Poppins"/>
              </a:rPr>
              <a:t>Revenue starts at a relatively stable level, then decreases in March. From March to June, it consistently increases across all locations. This suggests possibly seasonal demand building up over time. Hell’s Kitchen generates the highest revenue among the three stores, with Astoria following, and Lower Manhattan is behind but still follows the same trend. The gap between the stores is small; Hell’s Kitchen has a slight competitive edge in later months.</a:t>
            </a:r>
          </a:p>
        </p:txBody>
      </p:sp>
      <p:sp>
        <p:nvSpPr>
          <p:cNvPr name="TextBox 5" id="5"/>
          <p:cNvSpPr txBox="true"/>
          <p:nvPr/>
        </p:nvSpPr>
        <p:spPr>
          <a:xfrm rot="0">
            <a:off x="435417" y="1998028"/>
            <a:ext cx="8708583" cy="901700"/>
          </a:xfrm>
          <a:prstGeom prst="rect">
            <a:avLst/>
          </a:prstGeom>
        </p:spPr>
        <p:txBody>
          <a:bodyPr anchor="t" rtlCol="false" tIns="0" lIns="0" bIns="0" rIns="0">
            <a:spAutoFit/>
          </a:bodyPr>
          <a:lstStyle/>
          <a:p>
            <a:pPr algn="l">
              <a:lnSpc>
                <a:spcPts val="7000"/>
              </a:lnSpc>
              <a:spcBef>
                <a:spcPct val="0"/>
              </a:spcBef>
            </a:pPr>
            <a:r>
              <a:rPr lang="en-US" b="true" sz="5000">
                <a:solidFill>
                  <a:srgbClr val="512615"/>
                </a:solidFill>
                <a:latin typeface="Poppins Bold"/>
                <a:ea typeface="Poppins Bold"/>
                <a:cs typeface="Poppins Bold"/>
                <a:sym typeface="Poppins Bold"/>
              </a:rPr>
              <a:t>PERFORMANCE DEEP DIVE</a:t>
            </a:r>
          </a:p>
        </p:txBody>
      </p:sp>
      <p:sp>
        <p:nvSpPr>
          <p:cNvPr name="TextBox 6" id="6"/>
          <p:cNvSpPr txBox="true"/>
          <p:nvPr/>
        </p:nvSpPr>
        <p:spPr>
          <a:xfrm rot="0">
            <a:off x="1730715" y="1175702"/>
            <a:ext cx="3224077"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
        <p:nvSpPr>
          <p:cNvPr name="Freeform 7" id="7"/>
          <p:cNvSpPr/>
          <p:nvPr/>
        </p:nvSpPr>
        <p:spPr>
          <a:xfrm flipH="false" flipV="false" rot="0">
            <a:off x="8720361" y="3090119"/>
            <a:ext cx="9567639" cy="6750504"/>
          </a:xfrm>
          <a:custGeom>
            <a:avLst/>
            <a:gdLst/>
            <a:ahLst/>
            <a:cxnLst/>
            <a:rect r="r" b="b" t="t" l="l"/>
            <a:pathLst>
              <a:path h="6750504" w="9567639">
                <a:moveTo>
                  <a:pt x="0" y="0"/>
                </a:moveTo>
                <a:lnTo>
                  <a:pt x="9567639" y="0"/>
                </a:lnTo>
                <a:lnTo>
                  <a:pt x="9567639" y="6750504"/>
                </a:lnTo>
                <a:lnTo>
                  <a:pt x="0" y="6750504"/>
                </a:lnTo>
                <a:lnTo>
                  <a:pt x="0" y="0"/>
                </a:lnTo>
                <a:close/>
              </a:path>
            </a:pathLst>
          </a:custGeom>
          <a:blipFill>
            <a:blip r:embed="rId5"/>
            <a:stretch>
              <a:fillRect l="-1010" t="0" r="-5293"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028700" y="432626"/>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730715" y="587375"/>
            <a:ext cx="3552357"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
        <p:nvSpPr>
          <p:cNvPr name="TextBox 5" id="5"/>
          <p:cNvSpPr txBox="true"/>
          <p:nvPr/>
        </p:nvSpPr>
        <p:spPr>
          <a:xfrm rot="0">
            <a:off x="6315609" y="1074297"/>
            <a:ext cx="4252269" cy="759677"/>
          </a:xfrm>
          <a:prstGeom prst="rect">
            <a:avLst/>
          </a:prstGeom>
        </p:spPr>
        <p:txBody>
          <a:bodyPr anchor="t" rtlCol="false" tIns="0" lIns="0" bIns="0" rIns="0">
            <a:spAutoFit/>
          </a:bodyPr>
          <a:lstStyle/>
          <a:p>
            <a:pPr algn="l">
              <a:lnSpc>
                <a:spcPts val="5903"/>
              </a:lnSpc>
              <a:spcBef>
                <a:spcPct val="0"/>
              </a:spcBef>
            </a:pPr>
            <a:r>
              <a:rPr lang="en-US" sz="4216">
                <a:solidFill>
                  <a:srgbClr val="512615"/>
                </a:solidFill>
                <a:latin typeface="Poppins"/>
                <a:ea typeface="Poppins"/>
                <a:cs typeface="Poppins"/>
                <a:sym typeface="Poppins"/>
              </a:rPr>
              <a:t>Key findings</a:t>
            </a:r>
          </a:p>
        </p:txBody>
      </p:sp>
      <p:sp>
        <p:nvSpPr>
          <p:cNvPr name="Freeform 6" id="6"/>
          <p:cNvSpPr/>
          <p:nvPr/>
        </p:nvSpPr>
        <p:spPr>
          <a:xfrm flipH="false" flipV="false" rot="0">
            <a:off x="0" y="2931047"/>
            <a:ext cx="11761663" cy="7102422"/>
          </a:xfrm>
          <a:custGeom>
            <a:avLst/>
            <a:gdLst/>
            <a:ahLst/>
            <a:cxnLst/>
            <a:rect r="r" b="b" t="t" l="l"/>
            <a:pathLst>
              <a:path h="7102422" w="11761663">
                <a:moveTo>
                  <a:pt x="0" y="0"/>
                </a:moveTo>
                <a:lnTo>
                  <a:pt x="11761663" y="0"/>
                </a:lnTo>
                <a:lnTo>
                  <a:pt x="11761663" y="7102422"/>
                </a:lnTo>
                <a:lnTo>
                  <a:pt x="0" y="7102422"/>
                </a:lnTo>
                <a:lnTo>
                  <a:pt x="0" y="0"/>
                </a:lnTo>
                <a:close/>
              </a:path>
            </a:pathLst>
          </a:custGeom>
          <a:blipFill>
            <a:blip r:embed="rId5"/>
            <a:stretch>
              <a:fillRect l="0" t="-233" r="-2457" b="-1885"/>
            </a:stretch>
          </a:blipFill>
        </p:spPr>
      </p:sp>
      <p:sp>
        <p:nvSpPr>
          <p:cNvPr name="TextBox 7" id="7"/>
          <p:cNvSpPr txBox="true"/>
          <p:nvPr/>
        </p:nvSpPr>
        <p:spPr>
          <a:xfrm rot="0">
            <a:off x="12181512" y="3099971"/>
            <a:ext cx="5739791" cy="6688373"/>
          </a:xfrm>
          <a:prstGeom prst="rect">
            <a:avLst/>
          </a:prstGeom>
        </p:spPr>
        <p:txBody>
          <a:bodyPr anchor="t" rtlCol="false" tIns="0" lIns="0" bIns="0" rIns="0">
            <a:spAutoFit/>
          </a:bodyPr>
          <a:lstStyle/>
          <a:p>
            <a:pPr algn="just">
              <a:lnSpc>
                <a:spcPts val="4099"/>
              </a:lnSpc>
              <a:spcBef>
                <a:spcPct val="0"/>
              </a:spcBef>
            </a:pPr>
            <a:r>
              <a:rPr lang="en-US" sz="2928">
                <a:solidFill>
                  <a:srgbClr val="512615"/>
                </a:solidFill>
                <a:latin typeface="Poppins"/>
                <a:ea typeface="Poppins"/>
                <a:cs typeface="Poppins"/>
                <a:sym typeface="Poppins"/>
              </a:rPr>
              <a:t>The business is clearly weekday-driven, with consistently higher revenue during the week, likely due to regular customer routines such as work and commuting patterns. Revenue declines slightly over the weekend, suggesting reduced customer activity. Tuesdays and Fridays emerge as the strongest revenue days, indicating peak demand periods.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3485339" y="1028700"/>
            <a:ext cx="11317322" cy="8869186"/>
          </a:xfrm>
          <a:custGeom>
            <a:avLst/>
            <a:gdLst/>
            <a:ahLst/>
            <a:cxnLst/>
            <a:rect r="r" b="b" t="t" l="l"/>
            <a:pathLst>
              <a:path h="8869186" w="11317322">
                <a:moveTo>
                  <a:pt x="0" y="0"/>
                </a:moveTo>
                <a:lnTo>
                  <a:pt x="11317322" y="0"/>
                </a:lnTo>
                <a:lnTo>
                  <a:pt x="11317322" y="8869186"/>
                </a:lnTo>
                <a:lnTo>
                  <a:pt x="0" y="8869186"/>
                </a:lnTo>
                <a:lnTo>
                  <a:pt x="0" y="0"/>
                </a:lnTo>
                <a:close/>
              </a:path>
            </a:pathLst>
          </a:custGeom>
          <a:blipFill>
            <a:blip r:embed="rId3"/>
            <a:stretch>
              <a:fillRect l="-2022" t="0" r="-540" b="-1589"/>
            </a:stretch>
          </a:blipFill>
        </p:spPr>
      </p:sp>
      <p:sp>
        <p:nvSpPr>
          <p:cNvPr name="Freeform 4" id="4"/>
          <p:cNvSpPr/>
          <p:nvPr/>
        </p:nvSpPr>
        <p:spPr>
          <a:xfrm flipH="false" flipV="false" rot="0">
            <a:off x="1028700" y="432626"/>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730715" y="587375"/>
            <a:ext cx="3552357"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TextBox 3" id="3"/>
          <p:cNvSpPr txBox="true"/>
          <p:nvPr/>
        </p:nvSpPr>
        <p:spPr>
          <a:xfrm rot="0">
            <a:off x="730231" y="3442300"/>
            <a:ext cx="9144000" cy="5816000"/>
          </a:xfrm>
          <a:prstGeom prst="rect">
            <a:avLst/>
          </a:prstGeom>
        </p:spPr>
        <p:txBody>
          <a:bodyPr anchor="t" rtlCol="false" tIns="0" lIns="0" bIns="0" rIns="0">
            <a:spAutoFit/>
          </a:bodyPr>
          <a:lstStyle/>
          <a:p>
            <a:pPr algn="just">
              <a:lnSpc>
                <a:spcPts val="3867"/>
              </a:lnSpc>
              <a:spcBef>
                <a:spcPct val="0"/>
              </a:spcBef>
            </a:pPr>
            <a:r>
              <a:rPr lang="en-US" sz="2762">
                <a:solidFill>
                  <a:srgbClr val="512615"/>
                </a:solidFill>
                <a:latin typeface="Poppins"/>
                <a:ea typeface="Poppins"/>
                <a:cs typeface="Poppins"/>
                <a:sym typeface="Poppins"/>
              </a:rPr>
              <a:t>The last slide shows a clear customer pattern. The morning period dominates overall revenue. Morning rush is the highest revenue-generating period across all locations. Late morning and lunch peak also perform strongly, maintaining high sales momentum. Afternoon null indicates reduced customer activity. Evening wind-down and last call generate the lowest revenue, especially last call. Lower Manhattan leads during Morning rush and late morning, Hells kitchen perfoms well across most slots, and Astoria is consistent but slightly lower compared to the other two locations.</a:t>
            </a:r>
          </a:p>
        </p:txBody>
      </p:sp>
      <p:sp>
        <p:nvSpPr>
          <p:cNvPr name="TextBox 4" id="4"/>
          <p:cNvSpPr txBox="true"/>
          <p:nvPr/>
        </p:nvSpPr>
        <p:spPr>
          <a:xfrm rot="0">
            <a:off x="10520381" y="3834023"/>
            <a:ext cx="5297786" cy="4384675"/>
          </a:xfrm>
          <a:prstGeom prst="rect">
            <a:avLst/>
          </a:prstGeom>
        </p:spPr>
        <p:txBody>
          <a:bodyPr anchor="t" rtlCol="false" tIns="0" lIns="0" bIns="0" rIns="0">
            <a:spAutoFit/>
          </a:bodyPr>
          <a:lstStyle/>
          <a:p>
            <a:pPr algn="just">
              <a:lnSpc>
                <a:spcPts val="3499"/>
              </a:lnSpc>
            </a:pPr>
            <a:r>
              <a:rPr lang="en-US" sz="2499" b="true">
                <a:solidFill>
                  <a:srgbClr val="512615"/>
                </a:solidFill>
                <a:latin typeface="Poppins Semi-Bold"/>
                <a:ea typeface="Poppins Semi-Bold"/>
                <a:cs typeface="Poppins Semi-Bold"/>
                <a:sym typeface="Poppins Semi-Bold"/>
              </a:rPr>
              <a:t>Early morning (6-8 am)</a:t>
            </a:r>
          </a:p>
          <a:p>
            <a:pPr algn="just">
              <a:lnSpc>
                <a:spcPts val="3499"/>
              </a:lnSpc>
            </a:pPr>
            <a:r>
              <a:rPr lang="en-US" sz="2499" b="true">
                <a:solidFill>
                  <a:srgbClr val="512615"/>
                </a:solidFill>
                <a:latin typeface="Poppins Semi-Bold"/>
                <a:ea typeface="Poppins Semi-Bold"/>
                <a:cs typeface="Poppins Semi-Bold"/>
                <a:sym typeface="Poppins Semi-Bold"/>
              </a:rPr>
              <a:t>Morning Rush (8-10 am)</a:t>
            </a:r>
          </a:p>
          <a:p>
            <a:pPr algn="just">
              <a:lnSpc>
                <a:spcPts val="3499"/>
              </a:lnSpc>
            </a:pPr>
            <a:r>
              <a:rPr lang="en-US" sz="2499" b="true">
                <a:solidFill>
                  <a:srgbClr val="512615"/>
                </a:solidFill>
                <a:latin typeface="Poppins Semi-Bold"/>
                <a:ea typeface="Poppins Semi-Bold"/>
                <a:cs typeface="Poppins Semi-Bold"/>
                <a:sym typeface="Poppins Semi-Bold"/>
              </a:rPr>
              <a:t>Late Morning (10-12 am)</a:t>
            </a:r>
          </a:p>
          <a:p>
            <a:pPr algn="just">
              <a:lnSpc>
                <a:spcPts val="3499"/>
              </a:lnSpc>
            </a:pPr>
            <a:r>
              <a:rPr lang="en-US" sz="2499" b="true">
                <a:solidFill>
                  <a:srgbClr val="512615"/>
                </a:solidFill>
                <a:latin typeface="Poppins Semi-Bold"/>
                <a:ea typeface="Poppins Semi-Bold"/>
                <a:cs typeface="Poppins Semi-Bold"/>
                <a:sym typeface="Poppins Semi-Bold"/>
              </a:rPr>
              <a:t>Lunch Peak (12-2 pm)</a:t>
            </a:r>
          </a:p>
          <a:p>
            <a:pPr algn="just">
              <a:lnSpc>
                <a:spcPts val="3499"/>
              </a:lnSpc>
            </a:pPr>
            <a:r>
              <a:rPr lang="en-US" sz="2499" b="true">
                <a:solidFill>
                  <a:srgbClr val="512615"/>
                </a:solidFill>
                <a:latin typeface="Poppins Semi-Bold"/>
                <a:ea typeface="Poppins Semi-Bold"/>
                <a:cs typeface="Poppins Semi-Bold"/>
                <a:sym typeface="Poppins Semi-Bold"/>
              </a:rPr>
              <a:t>Afternoon Lull (2-4 pm)</a:t>
            </a:r>
          </a:p>
          <a:p>
            <a:pPr algn="just">
              <a:lnSpc>
                <a:spcPts val="3499"/>
              </a:lnSpc>
            </a:pPr>
            <a:r>
              <a:rPr lang="en-US" sz="2499" b="true">
                <a:solidFill>
                  <a:srgbClr val="512615"/>
                </a:solidFill>
                <a:latin typeface="Poppins Semi-Bold"/>
                <a:ea typeface="Poppins Semi-Bold"/>
                <a:cs typeface="Poppins Semi-Bold"/>
                <a:sym typeface="Poppins Semi-Bold"/>
              </a:rPr>
              <a:t>Evening start (4-6 pm)</a:t>
            </a:r>
          </a:p>
          <a:p>
            <a:pPr algn="just">
              <a:lnSpc>
                <a:spcPts val="3499"/>
              </a:lnSpc>
            </a:pPr>
            <a:r>
              <a:rPr lang="en-US" sz="2499" b="true">
                <a:solidFill>
                  <a:srgbClr val="512615"/>
                </a:solidFill>
                <a:latin typeface="Poppins Semi-Bold"/>
                <a:ea typeface="Poppins Semi-Bold"/>
                <a:cs typeface="Poppins Semi-Bold"/>
                <a:sym typeface="Poppins Semi-Bold"/>
              </a:rPr>
              <a:t>Evening Wind-down (6-8pm)</a:t>
            </a:r>
          </a:p>
          <a:p>
            <a:pPr algn="just">
              <a:lnSpc>
                <a:spcPts val="3499"/>
              </a:lnSpc>
            </a:pPr>
            <a:r>
              <a:rPr lang="en-US" sz="2499" b="true">
                <a:solidFill>
                  <a:srgbClr val="512615"/>
                </a:solidFill>
                <a:latin typeface="Poppins Semi-Bold"/>
                <a:ea typeface="Poppins Semi-Bold"/>
                <a:cs typeface="Poppins Semi-Bold"/>
                <a:sym typeface="Poppins Semi-Bold"/>
              </a:rPr>
              <a:t>Last call(8-10pm)</a:t>
            </a:r>
          </a:p>
          <a:p>
            <a:pPr algn="just">
              <a:lnSpc>
                <a:spcPts val="3499"/>
              </a:lnSpc>
            </a:pPr>
          </a:p>
          <a:p>
            <a:pPr algn="just">
              <a:lnSpc>
                <a:spcPts val="3499"/>
              </a:lnSpc>
              <a:spcBef>
                <a:spcPct val="0"/>
              </a:spcBef>
            </a:pPr>
          </a:p>
        </p:txBody>
      </p:sp>
      <p:sp>
        <p:nvSpPr>
          <p:cNvPr name="Freeform 5" id="5"/>
          <p:cNvSpPr/>
          <p:nvPr/>
        </p:nvSpPr>
        <p:spPr>
          <a:xfrm flipH="true" flipV="false" rot="0">
            <a:off x="14233794" y="-777434"/>
            <a:ext cx="3837033" cy="3741107"/>
          </a:xfrm>
          <a:custGeom>
            <a:avLst/>
            <a:gdLst/>
            <a:ahLst/>
            <a:cxnLst/>
            <a:rect r="r" b="b" t="t" l="l"/>
            <a:pathLst>
              <a:path h="3741107" w="3837033">
                <a:moveTo>
                  <a:pt x="3837032" y="0"/>
                </a:moveTo>
                <a:lnTo>
                  <a:pt x="0" y="0"/>
                </a:lnTo>
                <a:lnTo>
                  <a:pt x="0" y="3741107"/>
                </a:lnTo>
                <a:lnTo>
                  <a:pt x="3837032" y="3741107"/>
                </a:lnTo>
                <a:lnTo>
                  <a:pt x="383703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694244" y="1203832"/>
            <a:ext cx="702015" cy="596074"/>
          </a:xfrm>
          <a:custGeom>
            <a:avLst/>
            <a:gdLst/>
            <a:ahLst/>
            <a:cxnLst/>
            <a:rect r="r" b="b" t="t" l="l"/>
            <a:pathLst>
              <a:path h="596074" w="702015">
                <a:moveTo>
                  <a:pt x="0" y="0"/>
                </a:moveTo>
                <a:lnTo>
                  <a:pt x="702014" y="0"/>
                </a:lnTo>
                <a:lnTo>
                  <a:pt x="702014" y="596074"/>
                </a:lnTo>
                <a:lnTo>
                  <a:pt x="0" y="5960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734504" y="1358581"/>
            <a:ext cx="3215602"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true" flipV="false" rot="0">
            <a:off x="14271981" y="-841853"/>
            <a:ext cx="3837033" cy="3741107"/>
          </a:xfrm>
          <a:custGeom>
            <a:avLst/>
            <a:gdLst/>
            <a:ahLst/>
            <a:cxnLst/>
            <a:rect r="r" b="b" t="t" l="l"/>
            <a:pathLst>
              <a:path h="3741107" w="3837033">
                <a:moveTo>
                  <a:pt x="3837033" y="0"/>
                </a:moveTo>
                <a:lnTo>
                  <a:pt x="0" y="0"/>
                </a:lnTo>
                <a:lnTo>
                  <a:pt x="0" y="3741106"/>
                </a:lnTo>
                <a:lnTo>
                  <a:pt x="3837033" y="3741106"/>
                </a:lnTo>
                <a:lnTo>
                  <a:pt x="383703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84138" y="1139412"/>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275457" y="3174320"/>
            <a:ext cx="12975890" cy="3720875"/>
          </a:xfrm>
          <a:custGeom>
            <a:avLst/>
            <a:gdLst/>
            <a:ahLst/>
            <a:cxnLst/>
            <a:rect r="r" b="b" t="t" l="l"/>
            <a:pathLst>
              <a:path h="3720875" w="12975890">
                <a:moveTo>
                  <a:pt x="0" y="0"/>
                </a:moveTo>
                <a:lnTo>
                  <a:pt x="12975890" y="0"/>
                </a:lnTo>
                <a:lnTo>
                  <a:pt x="12975890" y="3720875"/>
                </a:lnTo>
                <a:lnTo>
                  <a:pt x="0" y="3720875"/>
                </a:lnTo>
                <a:lnTo>
                  <a:pt x="0" y="0"/>
                </a:lnTo>
                <a:close/>
              </a:path>
            </a:pathLst>
          </a:custGeom>
          <a:blipFill>
            <a:blip r:embed="rId7"/>
            <a:stretch>
              <a:fillRect l="-990" t="-1642" r="-599" b="-8182"/>
            </a:stretch>
          </a:blipFill>
        </p:spPr>
      </p:sp>
      <p:sp>
        <p:nvSpPr>
          <p:cNvPr name="TextBox 6" id="6"/>
          <p:cNvSpPr txBox="true"/>
          <p:nvPr/>
        </p:nvSpPr>
        <p:spPr>
          <a:xfrm rot="0">
            <a:off x="2480566" y="7502525"/>
            <a:ext cx="13337601" cy="2193925"/>
          </a:xfrm>
          <a:prstGeom prst="rect">
            <a:avLst/>
          </a:prstGeom>
        </p:spPr>
        <p:txBody>
          <a:bodyPr anchor="t" rtlCol="false" tIns="0" lIns="0" bIns="0" rIns="0">
            <a:spAutoFit/>
          </a:bodyPr>
          <a:lstStyle/>
          <a:p>
            <a:pPr algn="just">
              <a:lnSpc>
                <a:spcPts val="3499"/>
              </a:lnSpc>
              <a:spcBef>
                <a:spcPct val="0"/>
              </a:spcBef>
            </a:pPr>
            <a:r>
              <a:rPr lang="en-US" sz="2499">
                <a:solidFill>
                  <a:srgbClr val="512615"/>
                </a:solidFill>
                <a:latin typeface="Poppins"/>
                <a:ea typeface="Poppins"/>
                <a:cs typeface="Poppins"/>
                <a:sym typeface="Poppins"/>
              </a:rPr>
              <a:t>Coffee is the dominant category across all three locations, and Tea is the second-best-performing category.  However, Coffe beans are underperforming. This indicates that customers are buying coffee to consume in-store rather than purchasing beans for home brewing. Bakery and Branded are average-performing. Branded, Flavours, Loose tea, and Packaged Chocolate are low-performing.   </a:t>
            </a:r>
          </a:p>
        </p:txBody>
      </p:sp>
      <p:sp>
        <p:nvSpPr>
          <p:cNvPr name="TextBox 7" id="7"/>
          <p:cNvSpPr txBox="true"/>
          <p:nvPr/>
        </p:nvSpPr>
        <p:spPr>
          <a:xfrm rot="0">
            <a:off x="2123218" y="1294161"/>
            <a:ext cx="3151681"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028700" y="727190"/>
            <a:ext cx="702015" cy="596074"/>
          </a:xfrm>
          <a:custGeom>
            <a:avLst/>
            <a:gdLst/>
            <a:ahLst/>
            <a:cxnLst/>
            <a:rect r="r" b="b" t="t" l="l"/>
            <a:pathLst>
              <a:path h="596074" w="702015">
                <a:moveTo>
                  <a:pt x="0" y="0"/>
                </a:moveTo>
                <a:lnTo>
                  <a:pt x="702015" y="0"/>
                </a:lnTo>
                <a:lnTo>
                  <a:pt x="702015" y="596074"/>
                </a:lnTo>
                <a:lnTo>
                  <a:pt x="0" y="5960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21709" y="2928968"/>
            <a:ext cx="8722291" cy="6895294"/>
          </a:xfrm>
          <a:custGeom>
            <a:avLst/>
            <a:gdLst/>
            <a:ahLst/>
            <a:cxnLst/>
            <a:rect r="r" b="b" t="t" l="l"/>
            <a:pathLst>
              <a:path h="6895294" w="8722291">
                <a:moveTo>
                  <a:pt x="0" y="0"/>
                </a:moveTo>
                <a:lnTo>
                  <a:pt x="8722291" y="0"/>
                </a:lnTo>
                <a:lnTo>
                  <a:pt x="8722291" y="6895293"/>
                </a:lnTo>
                <a:lnTo>
                  <a:pt x="0" y="6895293"/>
                </a:lnTo>
                <a:lnTo>
                  <a:pt x="0" y="0"/>
                </a:lnTo>
                <a:close/>
              </a:path>
            </a:pathLst>
          </a:custGeom>
          <a:blipFill>
            <a:blip r:embed="rId5"/>
            <a:stretch>
              <a:fillRect l="0" t="-24771" r="0" b="-26494"/>
            </a:stretch>
          </a:blipFill>
        </p:spPr>
      </p:sp>
      <p:sp>
        <p:nvSpPr>
          <p:cNvPr name="TextBox 5" id="5"/>
          <p:cNvSpPr txBox="true"/>
          <p:nvPr/>
        </p:nvSpPr>
        <p:spPr>
          <a:xfrm rot="0">
            <a:off x="2136761" y="1610499"/>
            <a:ext cx="7374049" cy="880319"/>
          </a:xfrm>
          <a:prstGeom prst="rect">
            <a:avLst/>
          </a:prstGeom>
        </p:spPr>
        <p:txBody>
          <a:bodyPr anchor="t" rtlCol="false" tIns="0" lIns="0" bIns="0" rIns="0">
            <a:spAutoFit/>
          </a:bodyPr>
          <a:lstStyle/>
          <a:p>
            <a:pPr algn="l">
              <a:lnSpc>
                <a:spcPts val="6800"/>
              </a:lnSpc>
              <a:spcBef>
                <a:spcPct val="0"/>
              </a:spcBef>
            </a:pPr>
            <a:r>
              <a:rPr lang="en-US" b="true" sz="4857">
                <a:solidFill>
                  <a:srgbClr val="512615"/>
                </a:solidFill>
                <a:latin typeface="Poppins Bold"/>
                <a:ea typeface="Poppins Bold"/>
                <a:cs typeface="Poppins Bold"/>
                <a:sym typeface="Poppins Bold"/>
              </a:rPr>
              <a:t>Recommendations</a:t>
            </a:r>
          </a:p>
        </p:txBody>
      </p:sp>
      <p:sp>
        <p:nvSpPr>
          <p:cNvPr name="TextBox 6" id="6"/>
          <p:cNvSpPr txBox="true"/>
          <p:nvPr/>
        </p:nvSpPr>
        <p:spPr>
          <a:xfrm rot="0">
            <a:off x="9510810" y="1247064"/>
            <a:ext cx="8236848" cy="8745925"/>
          </a:xfrm>
          <a:prstGeom prst="rect">
            <a:avLst/>
          </a:prstGeom>
        </p:spPr>
        <p:txBody>
          <a:bodyPr anchor="t" rtlCol="false" tIns="0" lIns="0" bIns="0" rIns="0">
            <a:spAutoFit/>
          </a:bodyPr>
          <a:lstStyle/>
          <a:p>
            <a:pPr algn="l">
              <a:lnSpc>
                <a:spcPts val="4091"/>
              </a:lnSpc>
            </a:pPr>
            <a:r>
              <a:rPr lang="en-US" sz="2922" b="true">
                <a:solidFill>
                  <a:srgbClr val="512615"/>
                </a:solidFill>
                <a:latin typeface="Poppins Bold"/>
                <a:ea typeface="Poppins Bold"/>
                <a:cs typeface="Poppins Bold"/>
                <a:sym typeface="Poppins Bold"/>
              </a:rPr>
              <a:t>Coffee and Tea combined contributes 67% to the revenue; they are the backbone of the business. Bakery and Drinking Chocolate - 22%. Coffee beans-6%. Others combined-5%.</a:t>
            </a:r>
            <a:r>
              <a:rPr lang="en-US" sz="2922">
                <a:solidFill>
                  <a:srgbClr val="512615"/>
                </a:solidFill>
                <a:latin typeface="Poppins"/>
                <a:ea typeface="Poppins"/>
                <a:cs typeface="Poppins"/>
                <a:sym typeface="Poppins"/>
              </a:rPr>
              <a:t> </a:t>
            </a:r>
          </a:p>
          <a:p>
            <a:pPr algn="l" marL="630916" indent="-315458" lvl="1">
              <a:lnSpc>
                <a:spcPts val="4091"/>
              </a:lnSpc>
              <a:buFont typeface="Arial"/>
              <a:buChar char="•"/>
            </a:pPr>
            <a:r>
              <a:rPr lang="en-US" sz="2922">
                <a:solidFill>
                  <a:srgbClr val="512615"/>
                </a:solidFill>
                <a:latin typeface="Poppins"/>
                <a:ea typeface="Poppins"/>
                <a:cs typeface="Poppins"/>
                <a:sym typeface="Poppins"/>
              </a:rPr>
              <a:t>Focus inventory and marketing on the two high-performing categories and two secondary-performing categories. Promote the secondary performing categories by creating combo deals.</a:t>
            </a:r>
          </a:p>
          <a:p>
            <a:pPr algn="l" marL="630916" indent="-315458" lvl="1">
              <a:lnSpc>
                <a:spcPts val="4091"/>
              </a:lnSpc>
              <a:buFont typeface="Arial"/>
              <a:buChar char="•"/>
            </a:pPr>
            <a:r>
              <a:rPr lang="en-US" sz="2922">
                <a:solidFill>
                  <a:srgbClr val="512615"/>
                </a:solidFill>
                <a:latin typeface="Poppins"/>
                <a:ea typeface="Poppins"/>
                <a:cs typeface="Poppins"/>
                <a:sym typeface="Poppins"/>
              </a:rPr>
              <a:t>We can phase out the five weakest categories and use the space to grow coffee bean sales; it has growth potential. </a:t>
            </a:r>
          </a:p>
          <a:p>
            <a:pPr algn="l" marL="630916" indent="-315458" lvl="1">
              <a:lnSpc>
                <a:spcPts val="4091"/>
              </a:lnSpc>
              <a:buFont typeface="Arial"/>
              <a:buChar char="•"/>
            </a:pPr>
            <a:r>
              <a:rPr lang="en-US" sz="2922">
                <a:solidFill>
                  <a:srgbClr val="512615"/>
                </a:solidFill>
                <a:latin typeface="Poppins"/>
                <a:ea typeface="Poppins"/>
                <a:cs typeface="Poppins"/>
                <a:sym typeface="Poppins"/>
              </a:rPr>
              <a:t>Hell’s Kitchen outperforms Astoria and Lower Manhattan in every category, so we can replicate the store’s success.</a:t>
            </a:r>
          </a:p>
        </p:txBody>
      </p:sp>
      <p:sp>
        <p:nvSpPr>
          <p:cNvPr name="TextBox 7" id="7"/>
          <p:cNvSpPr txBox="true"/>
          <p:nvPr/>
        </p:nvSpPr>
        <p:spPr>
          <a:xfrm rot="0">
            <a:off x="1899258" y="881939"/>
            <a:ext cx="3151681"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TextBox 3" id="3"/>
          <p:cNvSpPr txBox="true"/>
          <p:nvPr/>
        </p:nvSpPr>
        <p:spPr>
          <a:xfrm rot="0">
            <a:off x="536680" y="2371312"/>
            <a:ext cx="8186243" cy="3508375"/>
          </a:xfrm>
          <a:prstGeom prst="rect">
            <a:avLst/>
          </a:prstGeom>
        </p:spPr>
        <p:txBody>
          <a:bodyPr anchor="t" rtlCol="false" tIns="0" lIns="0" bIns="0" rIns="0">
            <a:spAutoFit/>
          </a:bodyPr>
          <a:lstStyle/>
          <a:p>
            <a:pPr algn="just">
              <a:lnSpc>
                <a:spcPts val="3499"/>
              </a:lnSpc>
              <a:spcBef>
                <a:spcPct val="0"/>
              </a:spcBef>
            </a:pPr>
            <a:r>
              <a:rPr lang="en-US" sz="2499">
                <a:solidFill>
                  <a:srgbClr val="512615"/>
                </a:solidFill>
                <a:latin typeface="Poppins"/>
                <a:ea typeface="Poppins"/>
                <a:cs typeface="Poppins"/>
                <a:sym typeface="Poppins"/>
              </a:rPr>
              <a:t>Launch an afternoon happy hour during the afternoon lull hours. It captures less of the daily revenue compared to the morning peak hours.  Boost weekend sales with special promotions and improve weekday service speed.  Expand the menu with cold beverages, indulgent treats, and child-friendly items to attract new customer segments and boost performance during low months.</a:t>
            </a:r>
          </a:p>
        </p:txBody>
      </p:sp>
      <p:sp>
        <p:nvSpPr>
          <p:cNvPr name="TextBox 4" id="4"/>
          <p:cNvSpPr txBox="true"/>
          <p:nvPr/>
        </p:nvSpPr>
        <p:spPr>
          <a:xfrm rot="0">
            <a:off x="9320876" y="2371312"/>
            <a:ext cx="7046634" cy="3508375"/>
          </a:xfrm>
          <a:prstGeom prst="rect">
            <a:avLst/>
          </a:prstGeom>
        </p:spPr>
        <p:txBody>
          <a:bodyPr anchor="t" rtlCol="false" tIns="0" lIns="0" bIns="0" rIns="0">
            <a:spAutoFit/>
          </a:bodyPr>
          <a:lstStyle/>
          <a:p>
            <a:pPr algn="just">
              <a:lnSpc>
                <a:spcPts val="3499"/>
              </a:lnSpc>
              <a:spcBef>
                <a:spcPct val="0"/>
              </a:spcBef>
            </a:pPr>
            <a:r>
              <a:rPr lang="en-US" sz="2499">
                <a:solidFill>
                  <a:srgbClr val="512615"/>
                </a:solidFill>
                <a:latin typeface="Poppins"/>
                <a:ea typeface="Poppins"/>
                <a:cs typeface="Poppins"/>
                <a:sym typeface="Poppins"/>
              </a:rPr>
              <a:t>Turn holidays into revenue opportunities. Host special events and limited-time offerings for major holidays. If the low performing categories are not phased out,, we can launch a birthday rewards program offering special discounts and free items to customers on their birthdays, such as branded items. </a:t>
            </a:r>
          </a:p>
        </p:txBody>
      </p:sp>
      <p:sp>
        <p:nvSpPr>
          <p:cNvPr name="TextBox 5" id="5"/>
          <p:cNvSpPr txBox="true"/>
          <p:nvPr/>
        </p:nvSpPr>
        <p:spPr>
          <a:xfrm rot="0">
            <a:off x="536680" y="6340475"/>
            <a:ext cx="8186243" cy="3070225"/>
          </a:xfrm>
          <a:prstGeom prst="rect">
            <a:avLst/>
          </a:prstGeom>
        </p:spPr>
        <p:txBody>
          <a:bodyPr anchor="t" rtlCol="false" tIns="0" lIns="0" bIns="0" rIns="0">
            <a:spAutoFit/>
          </a:bodyPr>
          <a:lstStyle/>
          <a:p>
            <a:pPr algn="just">
              <a:lnSpc>
                <a:spcPts val="3499"/>
              </a:lnSpc>
              <a:spcBef>
                <a:spcPct val="0"/>
              </a:spcBef>
            </a:pPr>
            <a:r>
              <a:rPr lang="en-US" sz="2499">
                <a:solidFill>
                  <a:srgbClr val="512615"/>
                </a:solidFill>
                <a:latin typeface="Poppins"/>
                <a:ea typeface="Poppins"/>
                <a:cs typeface="Poppins"/>
                <a:sym typeface="Poppins"/>
              </a:rPr>
              <a:t>Implement a social media strategy across Instagram, Facebook, and TikTok. Build a loyal following and offer exclusive percentage-off discounts to followers to drive traffic during slow periods. Create simple, fun, and visually engaging activities at your coffee shop that content creators will want to film and share with their followers.</a:t>
            </a:r>
          </a:p>
        </p:txBody>
      </p:sp>
      <p:sp>
        <p:nvSpPr>
          <p:cNvPr name="TextBox 6" id="6"/>
          <p:cNvSpPr txBox="true"/>
          <p:nvPr/>
        </p:nvSpPr>
        <p:spPr>
          <a:xfrm rot="0">
            <a:off x="9144000" y="6340475"/>
            <a:ext cx="7046634" cy="3508375"/>
          </a:xfrm>
          <a:prstGeom prst="rect">
            <a:avLst/>
          </a:prstGeom>
        </p:spPr>
        <p:txBody>
          <a:bodyPr anchor="t" rtlCol="false" tIns="0" lIns="0" bIns="0" rIns="0">
            <a:spAutoFit/>
          </a:bodyPr>
          <a:lstStyle/>
          <a:p>
            <a:pPr algn="just">
              <a:lnSpc>
                <a:spcPts val="3499"/>
              </a:lnSpc>
              <a:spcBef>
                <a:spcPct val="0"/>
              </a:spcBef>
            </a:pPr>
            <a:r>
              <a:rPr lang="en-US" sz="2499">
                <a:solidFill>
                  <a:srgbClr val="512615"/>
                </a:solidFill>
                <a:latin typeface="Poppins"/>
                <a:ea typeface="Poppins"/>
                <a:cs typeface="Poppins"/>
                <a:sym typeface="Poppins"/>
              </a:rPr>
              <a:t>Launch a loyalty card program where customers earn points or stamps with every purchase, redeemable for free items after a certain number of visits. Launch delivery and takeaway services through delivery platforms partnerships and takeaway-focused promotions, with special emphasis on last call hours.</a:t>
            </a:r>
          </a:p>
        </p:txBody>
      </p:sp>
      <p:sp>
        <p:nvSpPr>
          <p:cNvPr name="Freeform 7" id="7"/>
          <p:cNvSpPr/>
          <p:nvPr/>
        </p:nvSpPr>
        <p:spPr>
          <a:xfrm flipH="false" flipV="false" rot="0">
            <a:off x="827421" y="1028700"/>
            <a:ext cx="702015" cy="596074"/>
          </a:xfrm>
          <a:custGeom>
            <a:avLst/>
            <a:gdLst/>
            <a:ahLst/>
            <a:cxnLst/>
            <a:rect r="r" b="b" t="t" l="l"/>
            <a:pathLst>
              <a:path h="596074" w="702015">
                <a:moveTo>
                  <a:pt x="0" y="0"/>
                </a:moveTo>
                <a:lnTo>
                  <a:pt x="702014" y="0"/>
                </a:lnTo>
                <a:lnTo>
                  <a:pt x="702014" y="596074"/>
                </a:lnTo>
                <a:lnTo>
                  <a:pt x="0" y="5960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711002" y="1183449"/>
            <a:ext cx="3151681" cy="441325"/>
          </a:xfrm>
          <a:prstGeom prst="rect">
            <a:avLst/>
          </a:prstGeom>
        </p:spPr>
        <p:txBody>
          <a:bodyPr anchor="t" rtlCol="false" tIns="0" lIns="0" bIns="0" rIns="0">
            <a:spAutoFit/>
          </a:bodyPr>
          <a:lstStyle/>
          <a:p>
            <a:pPr algn="r">
              <a:lnSpc>
                <a:spcPts val="3499"/>
              </a:lnSpc>
              <a:spcBef>
                <a:spcPct val="0"/>
              </a:spcBef>
            </a:pPr>
            <a:r>
              <a:rPr lang="en-US" b="true" sz="2499">
                <a:solidFill>
                  <a:srgbClr val="512615"/>
                </a:solidFill>
                <a:latin typeface="Poppins Bold"/>
                <a:ea typeface="Poppins Bold"/>
                <a:cs typeface="Poppins Bold"/>
                <a:sym typeface="Poppins Bold"/>
              </a:rPr>
              <a:t>Bright Coffee Shop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false" flipV="false" rot="0">
            <a:off x="-14724" y="7255306"/>
            <a:ext cx="3340193" cy="3256688"/>
          </a:xfrm>
          <a:custGeom>
            <a:avLst/>
            <a:gdLst/>
            <a:ahLst/>
            <a:cxnLst/>
            <a:rect r="r" b="b" t="t" l="l"/>
            <a:pathLst>
              <a:path h="3256688" w="3340193">
                <a:moveTo>
                  <a:pt x="0" y="0"/>
                </a:moveTo>
                <a:lnTo>
                  <a:pt x="3340192" y="0"/>
                </a:lnTo>
                <a:lnTo>
                  <a:pt x="3340192" y="3256688"/>
                </a:lnTo>
                <a:lnTo>
                  <a:pt x="0" y="3256688"/>
                </a:lnTo>
                <a:lnTo>
                  <a:pt x="0" y="0"/>
                </a:lnTo>
                <a:close/>
              </a:path>
            </a:pathLst>
          </a:custGeom>
          <a:blipFill>
            <a:blip r:embed="rId3">
              <a:alphaModFix amt="41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4148853" y="-996651"/>
            <a:ext cx="4765925" cy="4646777"/>
          </a:xfrm>
          <a:custGeom>
            <a:avLst/>
            <a:gdLst/>
            <a:ahLst/>
            <a:cxnLst/>
            <a:rect r="r" b="b" t="t" l="l"/>
            <a:pathLst>
              <a:path h="4646777" w="4765925">
                <a:moveTo>
                  <a:pt x="4765924" y="0"/>
                </a:moveTo>
                <a:lnTo>
                  <a:pt x="0" y="0"/>
                </a:lnTo>
                <a:lnTo>
                  <a:pt x="0" y="4646776"/>
                </a:lnTo>
                <a:lnTo>
                  <a:pt x="4765924" y="4646776"/>
                </a:lnTo>
                <a:lnTo>
                  <a:pt x="4765924" y="0"/>
                </a:lnTo>
                <a:close/>
              </a:path>
            </a:pathLst>
          </a:custGeom>
          <a:blipFill>
            <a:blip r:embed="rId3">
              <a:alphaModFix amt="41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048614" y="1028700"/>
            <a:ext cx="702015" cy="596074"/>
          </a:xfrm>
          <a:custGeom>
            <a:avLst/>
            <a:gdLst/>
            <a:ahLst/>
            <a:cxnLst/>
            <a:rect r="r" b="b" t="t" l="l"/>
            <a:pathLst>
              <a:path h="596074" w="702015">
                <a:moveTo>
                  <a:pt x="0" y="0"/>
                </a:moveTo>
                <a:lnTo>
                  <a:pt x="702014" y="0"/>
                </a:lnTo>
                <a:lnTo>
                  <a:pt x="702014" y="596074"/>
                </a:lnTo>
                <a:lnTo>
                  <a:pt x="0" y="5960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486400" y="3189795"/>
            <a:ext cx="7315200" cy="3907410"/>
          </a:xfrm>
          <a:custGeom>
            <a:avLst/>
            <a:gdLst/>
            <a:ahLst/>
            <a:cxnLst/>
            <a:rect r="r" b="b" t="t" l="l"/>
            <a:pathLst>
              <a:path h="3907410" w="7315200">
                <a:moveTo>
                  <a:pt x="0" y="0"/>
                </a:moveTo>
                <a:lnTo>
                  <a:pt x="7315200" y="0"/>
                </a:lnTo>
                <a:lnTo>
                  <a:pt x="7315200" y="3907410"/>
                </a:lnTo>
                <a:lnTo>
                  <a:pt x="0" y="39074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4904536" y="0"/>
            <a:ext cx="9533052" cy="9969090"/>
          </a:xfrm>
          <a:custGeom>
            <a:avLst/>
            <a:gdLst/>
            <a:ahLst/>
            <a:cxnLst/>
            <a:rect r="r" b="b" t="t" l="l"/>
            <a:pathLst>
              <a:path h="9969090" w="9533052">
                <a:moveTo>
                  <a:pt x="0" y="0"/>
                </a:moveTo>
                <a:lnTo>
                  <a:pt x="9533052" y="0"/>
                </a:lnTo>
                <a:lnTo>
                  <a:pt x="9533052" y="9969090"/>
                </a:lnTo>
                <a:lnTo>
                  <a:pt x="0" y="9969090"/>
                </a:lnTo>
                <a:lnTo>
                  <a:pt x="0" y="0"/>
                </a:lnTo>
                <a:close/>
              </a:path>
            </a:pathLst>
          </a:custGeom>
          <a:blipFill>
            <a:blip r:embed="rId9"/>
            <a:stretch>
              <a:fillRect l="0" t="-6583" r="0" b="-6583"/>
            </a:stretch>
          </a:blipFill>
        </p:spPr>
      </p:sp>
      <p:sp>
        <p:nvSpPr>
          <p:cNvPr name="Freeform 8" id="8"/>
          <p:cNvSpPr/>
          <p:nvPr/>
        </p:nvSpPr>
        <p:spPr>
          <a:xfrm flipH="false" flipV="false" rot="0">
            <a:off x="-24195" y="326227"/>
            <a:ext cx="4137367" cy="4114800"/>
          </a:xfrm>
          <a:custGeom>
            <a:avLst/>
            <a:gdLst/>
            <a:ahLst/>
            <a:cxnLst/>
            <a:rect r="r" b="b" t="t" l="l"/>
            <a:pathLst>
              <a:path h="4114800" w="4137367">
                <a:moveTo>
                  <a:pt x="0" y="0"/>
                </a:moveTo>
                <a:lnTo>
                  <a:pt x="4137368" y="0"/>
                </a:lnTo>
                <a:lnTo>
                  <a:pt x="41373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519356" y="5041102"/>
            <a:ext cx="13933832" cy="2802770"/>
          </a:xfrm>
          <a:prstGeom prst="rect">
            <a:avLst/>
          </a:prstGeom>
        </p:spPr>
        <p:txBody>
          <a:bodyPr anchor="t" rtlCol="false" tIns="0" lIns="0" bIns="0" rIns="0">
            <a:spAutoFit/>
          </a:bodyPr>
          <a:lstStyle/>
          <a:p>
            <a:pPr algn="ctr">
              <a:lnSpc>
                <a:spcPts val="21792"/>
              </a:lnSpc>
              <a:spcBef>
                <a:spcPct val="0"/>
              </a:spcBef>
            </a:pPr>
            <a:r>
              <a:rPr lang="en-US" b="true" sz="15565">
                <a:solidFill>
                  <a:srgbClr val="FFFFFF"/>
                </a:solidFill>
                <a:latin typeface="Poppins Bold"/>
                <a:ea typeface="Poppins Bold"/>
                <a:cs typeface="Poppins Bold"/>
                <a:sym typeface="Poppins Bold"/>
              </a:rPr>
              <a:t>THANK YOU</a:t>
            </a:r>
          </a:p>
        </p:txBody>
      </p:sp>
      <p:sp>
        <p:nvSpPr>
          <p:cNvPr name="TextBox 10" id="10"/>
          <p:cNvSpPr txBox="true"/>
          <p:nvPr/>
        </p:nvSpPr>
        <p:spPr>
          <a:xfrm rot="0">
            <a:off x="8048614" y="1183449"/>
            <a:ext cx="3809935" cy="441325"/>
          </a:xfrm>
          <a:prstGeom prst="rect">
            <a:avLst/>
          </a:prstGeom>
        </p:spPr>
        <p:txBody>
          <a:bodyPr anchor="t" rtlCol="false" tIns="0" lIns="0" bIns="0" rIns="0">
            <a:spAutoFit/>
          </a:bodyPr>
          <a:lstStyle/>
          <a:p>
            <a:pPr algn="r">
              <a:lnSpc>
                <a:spcPts val="3499"/>
              </a:lnSpc>
              <a:spcBef>
                <a:spcPct val="0"/>
              </a:spcBef>
            </a:pPr>
            <a:r>
              <a:rPr lang="en-US" b="true" sz="2499">
                <a:solidFill>
                  <a:srgbClr val="FFFFFF"/>
                </a:solidFill>
                <a:latin typeface="Poppins Bold"/>
                <a:ea typeface="Poppins Bold"/>
                <a:cs typeface="Poppins Bold"/>
                <a:sym typeface="Poppins Bold"/>
              </a:rPr>
              <a:t>Bright Coffee Shop</a:t>
            </a:r>
          </a:p>
        </p:txBody>
      </p:sp>
      <p:sp>
        <p:nvSpPr>
          <p:cNvPr name="TextBox 11" id="11"/>
          <p:cNvSpPr txBox="true"/>
          <p:nvPr/>
        </p:nvSpPr>
        <p:spPr>
          <a:xfrm rot="0">
            <a:off x="684544" y="2580711"/>
            <a:ext cx="17603456" cy="988315"/>
          </a:xfrm>
          <a:prstGeom prst="rect">
            <a:avLst/>
          </a:prstGeom>
        </p:spPr>
        <p:txBody>
          <a:bodyPr anchor="t" rtlCol="false" tIns="0" lIns="0" bIns="0" rIns="0">
            <a:spAutoFit/>
          </a:bodyPr>
          <a:lstStyle/>
          <a:p>
            <a:pPr algn="l" marL="591905" indent="-295952" lvl="1">
              <a:lnSpc>
                <a:spcPts val="3838"/>
              </a:lnSpc>
              <a:buFont typeface="Arial"/>
              <a:buChar char="•"/>
            </a:pPr>
            <a:r>
              <a:rPr lang="en-US" b="true" sz="2741">
                <a:solidFill>
                  <a:srgbClr val="FFFFFF"/>
                </a:solidFill>
                <a:latin typeface="Poppins Bold"/>
                <a:ea typeface="Poppins Bold"/>
                <a:cs typeface="Poppins Bold"/>
                <a:sym typeface="Poppins Bold"/>
              </a:rPr>
              <a:t>LASTLY, REFRESH THE SHOP SETTING EVERY 4 MONTHS WITH SMALL, LOW-COST CHANGES TO KEEP THE ENVIRONMENT FEELING NEW AND EXCITING.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false" flipV="false" rot="0">
            <a:off x="-14724" y="7255306"/>
            <a:ext cx="3340193" cy="3256688"/>
          </a:xfrm>
          <a:custGeom>
            <a:avLst/>
            <a:gdLst/>
            <a:ahLst/>
            <a:cxnLst/>
            <a:rect r="r" b="b" t="t" l="l"/>
            <a:pathLst>
              <a:path h="3256688" w="3340193">
                <a:moveTo>
                  <a:pt x="0" y="0"/>
                </a:moveTo>
                <a:lnTo>
                  <a:pt x="3340192" y="0"/>
                </a:lnTo>
                <a:lnTo>
                  <a:pt x="3340192" y="3256688"/>
                </a:lnTo>
                <a:lnTo>
                  <a:pt x="0" y="3256688"/>
                </a:lnTo>
                <a:lnTo>
                  <a:pt x="0" y="0"/>
                </a:lnTo>
                <a:close/>
              </a:path>
            </a:pathLst>
          </a:custGeom>
          <a:blipFill>
            <a:blip r:embed="rId3">
              <a:alphaModFix amt="41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4148853" y="-996651"/>
            <a:ext cx="4765925" cy="4646777"/>
          </a:xfrm>
          <a:custGeom>
            <a:avLst/>
            <a:gdLst/>
            <a:ahLst/>
            <a:cxnLst/>
            <a:rect r="r" b="b" t="t" l="l"/>
            <a:pathLst>
              <a:path h="4646777" w="4765925">
                <a:moveTo>
                  <a:pt x="4765924" y="0"/>
                </a:moveTo>
                <a:lnTo>
                  <a:pt x="0" y="0"/>
                </a:lnTo>
                <a:lnTo>
                  <a:pt x="0" y="4646776"/>
                </a:lnTo>
                <a:lnTo>
                  <a:pt x="4765924" y="4646776"/>
                </a:lnTo>
                <a:lnTo>
                  <a:pt x="4765924" y="0"/>
                </a:lnTo>
                <a:close/>
              </a:path>
            </a:pathLst>
          </a:custGeom>
          <a:blipFill>
            <a:blip r:embed="rId3">
              <a:alphaModFix amt="41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048614" y="1028700"/>
            <a:ext cx="702015" cy="596074"/>
          </a:xfrm>
          <a:custGeom>
            <a:avLst/>
            <a:gdLst/>
            <a:ahLst/>
            <a:cxnLst/>
            <a:rect r="r" b="b" t="t" l="l"/>
            <a:pathLst>
              <a:path h="596074" w="702015">
                <a:moveTo>
                  <a:pt x="0" y="0"/>
                </a:moveTo>
                <a:lnTo>
                  <a:pt x="702014" y="0"/>
                </a:lnTo>
                <a:lnTo>
                  <a:pt x="702014" y="596074"/>
                </a:lnTo>
                <a:lnTo>
                  <a:pt x="0" y="5960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486400" y="3189795"/>
            <a:ext cx="7315200" cy="3907410"/>
          </a:xfrm>
          <a:custGeom>
            <a:avLst/>
            <a:gdLst/>
            <a:ahLst/>
            <a:cxnLst/>
            <a:rect r="r" b="b" t="t" l="l"/>
            <a:pathLst>
              <a:path h="3907410" w="7315200">
                <a:moveTo>
                  <a:pt x="0" y="0"/>
                </a:moveTo>
                <a:lnTo>
                  <a:pt x="7315200" y="0"/>
                </a:lnTo>
                <a:lnTo>
                  <a:pt x="7315200" y="3907410"/>
                </a:lnTo>
                <a:lnTo>
                  <a:pt x="0" y="39074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4904536" y="0"/>
            <a:ext cx="9533052" cy="9969090"/>
          </a:xfrm>
          <a:custGeom>
            <a:avLst/>
            <a:gdLst/>
            <a:ahLst/>
            <a:cxnLst/>
            <a:rect r="r" b="b" t="t" l="l"/>
            <a:pathLst>
              <a:path h="9969090" w="9533052">
                <a:moveTo>
                  <a:pt x="0" y="0"/>
                </a:moveTo>
                <a:lnTo>
                  <a:pt x="9533052" y="0"/>
                </a:lnTo>
                <a:lnTo>
                  <a:pt x="9533052" y="9969090"/>
                </a:lnTo>
                <a:lnTo>
                  <a:pt x="0" y="9969090"/>
                </a:lnTo>
                <a:lnTo>
                  <a:pt x="0" y="0"/>
                </a:lnTo>
                <a:close/>
              </a:path>
            </a:pathLst>
          </a:custGeom>
          <a:blipFill>
            <a:blip r:embed="rId9"/>
            <a:stretch>
              <a:fillRect l="0" t="-6583" r="0" b="-6583"/>
            </a:stretch>
          </a:blipFill>
        </p:spPr>
      </p:sp>
      <p:sp>
        <p:nvSpPr>
          <p:cNvPr name="Freeform 8" id="8"/>
          <p:cNvSpPr/>
          <p:nvPr/>
        </p:nvSpPr>
        <p:spPr>
          <a:xfrm flipH="false" flipV="false" rot="0">
            <a:off x="-24195" y="326227"/>
            <a:ext cx="4137367" cy="4114800"/>
          </a:xfrm>
          <a:custGeom>
            <a:avLst/>
            <a:gdLst/>
            <a:ahLst/>
            <a:cxnLst/>
            <a:rect r="r" b="b" t="t" l="l"/>
            <a:pathLst>
              <a:path h="4114800" w="4137367">
                <a:moveTo>
                  <a:pt x="0" y="0"/>
                </a:moveTo>
                <a:lnTo>
                  <a:pt x="4137368" y="0"/>
                </a:lnTo>
                <a:lnTo>
                  <a:pt x="41373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292610" y="326227"/>
            <a:ext cx="4065717" cy="4114800"/>
          </a:xfrm>
          <a:custGeom>
            <a:avLst/>
            <a:gdLst/>
            <a:ahLst/>
            <a:cxnLst/>
            <a:rect r="r" b="b" t="t" l="l"/>
            <a:pathLst>
              <a:path h="4114800" w="4065717">
                <a:moveTo>
                  <a:pt x="0" y="0"/>
                </a:moveTo>
                <a:lnTo>
                  <a:pt x="4065717" y="0"/>
                </a:lnTo>
                <a:lnTo>
                  <a:pt x="4065717"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6465080" y="8135430"/>
            <a:ext cx="7315200" cy="1569033"/>
          </a:xfrm>
          <a:custGeom>
            <a:avLst/>
            <a:gdLst/>
            <a:ahLst/>
            <a:cxnLst/>
            <a:rect r="r" b="b" t="t" l="l"/>
            <a:pathLst>
              <a:path h="1569033" w="7315200">
                <a:moveTo>
                  <a:pt x="0" y="0"/>
                </a:moveTo>
                <a:lnTo>
                  <a:pt x="7315200" y="0"/>
                </a:lnTo>
                <a:lnTo>
                  <a:pt x="7315200" y="1569033"/>
                </a:lnTo>
                <a:lnTo>
                  <a:pt x="0" y="156903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0" y="1465667"/>
            <a:ext cx="7315200" cy="1197033"/>
          </a:xfrm>
          <a:custGeom>
            <a:avLst/>
            <a:gdLst/>
            <a:ahLst/>
            <a:cxnLst/>
            <a:rect r="r" b="b" t="t" l="l"/>
            <a:pathLst>
              <a:path h="1197033" w="7315200">
                <a:moveTo>
                  <a:pt x="0" y="0"/>
                </a:moveTo>
                <a:lnTo>
                  <a:pt x="7315200" y="0"/>
                </a:lnTo>
                <a:lnTo>
                  <a:pt x="7315200" y="1197033"/>
                </a:lnTo>
                <a:lnTo>
                  <a:pt x="0" y="11970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2" id="12"/>
          <p:cNvSpPr txBox="true"/>
          <p:nvPr/>
        </p:nvSpPr>
        <p:spPr>
          <a:xfrm rot="0">
            <a:off x="8048614" y="1183449"/>
            <a:ext cx="3809935" cy="441325"/>
          </a:xfrm>
          <a:prstGeom prst="rect">
            <a:avLst/>
          </a:prstGeom>
        </p:spPr>
        <p:txBody>
          <a:bodyPr anchor="t" rtlCol="false" tIns="0" lIns="0" bIns="0" rIns="0">
            <a:spAutoFit/>
          </a:bodyPr>
          <a:lstStyle/>
          <a:p>
            <a:pPr algn="r">
              <a:lnSpc>
                <a:spcPts val="3499"/>
              </a:lnSpc>
              <a:spcBef>
                <a:spcPct val="0"/>
              </a:spcBef>
            </a:pPr>
            <a:r>
              <a:rPr lang="en-US" b="true" sz="2499">
                <a:solidFill>
                  <a:srgbClr val="FFFFFF"/>
                </a:solidFill>
                <a:latin typeface="Poppins Bold"/>
                <a:ea typeface="Poppins Bold"/>
                <a:cs typeface="Poppins Bold"/>
                <a:sym typeface="Poppins Bold"/>
              </a:rPr>
              <a:t>Bright Coffee Shop</a:t>
            </a:r>
          </a:p>
        </p:txBody>
      </p:sp>
      <p:sp>
        <p:nvSpPr>
          <p:cNvPr name="TextBox 13" id="13"/>
          <p:cNvSpPr txBox="true"/>
          <p:nvPr/>
        </p:nvSpPr>
        <p:spPr>
          <a:xfrm rot="0">
            <a:off x="3630710" y="2300750"/>
            <a:ext cx="11637063" cy="2336801"/>
          </a:xfrm>
          <a:prstGeom prst="rect">
            <a:avLst/>
          </a:prstGeom>
        </p:spPr>
        <p:txBody>
          <a:bodyPr anchor="t" rtlCol="false" tIns="0" lIns="0" bIns="0" rIns="0">
            <a:spAutoFit/>
          </a:bodyPr>
          <a:lstStyle/>
          <a:p>
            <a:pPr algn="ctr">
              <a:lnSpc>
                <a:spcPts val="18199"/>
              </a:lnSpc>
              <a:spcBef>
                <a:spcPct val="0"/>
              </a:spcBef>
            </a:pPr>
            <a:r>
              <a:rPr lang="en-US" b="true" sz="12999">
                <a:solidFill>
                  <a:srgbClr val="FFFFFF"/>
                </a:solidFill>
                <a:latin typeface="Poppins Bold"/>
                <a:ea typeface="Poppins Bold"/>
                <a:cs typeface="Poppins Bold"/>
                <a:sym typeface="Poppins Bold"/>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DAHFgdejxLg</dc:identifier>
  <dcterms:modified xsi:type="dcterms:W3CDTF">2011-08-01T06:04:30Z</dcterms:modified>
  <cp:revision>1</cp:revision>
  <dc:title>Brown Illustrated Coffee Presentation</dc:title>
</cp:coreProperties>
</file>