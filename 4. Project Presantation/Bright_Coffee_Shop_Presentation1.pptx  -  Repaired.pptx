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9" r:id="rId7"/>
    <p:sldId id="261" r:id="rId8"/>
    <p:sldId id="262" r:id="rId9"/>
    <p:sldId id="264" r:id="rId10"/>
    <p:sldId id="265" r:id="rId11"/>
    <p:sldId id="266" r:id="rId12"/>
    <p:sldId id="274" r:id="rId13"/>
    <p:sldId id="267" r:id="rId14"/>
  </p:sldIdLst>
  <p:sldSz cx="18288000" cy="10287000"/>
  <p:notesSz cx="6858000" cy="9144000"/>
  <p:embeddedFontLst>
    <p:embeddedFont>
      <p:font typeface="Canva Sans" panose="020B0604020202020204" charset="0"/>
      <p:regular r:id="rId15"/>
    </p:embeddedFont>
    <p:embeddedFont>
      <p:font typeface="Canva Sans Bold" panose="020B0604020202020204" charset="0"/>
      <p:regular r:id="rId16"/>
    </p:embeddedFont>
    <p:embeddedFont>
      <p:font typeface="Poppins" panose="00000500000000000000" pitchFamily="2" charset="0"/>
      <p:regular r:id="rId17"/>
      <p:bold r:id="rId18"/>
      <p:italic r:id="rId19"/>
      <p:boldItalic r:id="rId20"/>
    </p:embeddedFont>
    <p:embeddedFont>
      <p:font typeface="Poppins Bold" panose="00000800000000000000"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22" autoAdjust="0"/>
  </p:normalViewPr>
  <p:slideViewPr>
    <p:cSldViewPr>
      <p:cViewPr varScale="1">
        <p:scale>
          <a:sx n="56" d="100"/>
          <a:sy n="56" d="100"/>
        </p:scale>
        <p:origin x="63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22.svg"/><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a:p>
        </p:txBody>
      </p:sp>
      <p:sp>
        <p:nvSpPr>
          <p:cNvPr id="3" name="Freeform 3"/>
          <p:cNvSpPr/>
          <p:nvPr/>
        </p:nvSpPr>
        <p:spPr>
          <a:xfrm>
            <a:off x="12221069" y="7519579"/>
            <a:ext cx="7315200" cy="3477441"/>
          </a:xfrm>
          <a:custGeom>
            <a:avLst/>
            <a:gdLst/>
            <a:ahLst/>
            <a:cxnLst/>
            <a:rect l="l" t="t" r="r" b="b"/>
            <a:pathLst>
              <a:path w="7315200" h="3477441">
                <a:moveTo>
                  <a:pt x="0" y="0"/>
                </a:moveTo>
                <a:lnTo>
                  <a:pt x="7315200" y="0"/>
                </a:lnTo>
                <a:lnTo>
                  <a:pt x="7315200" y="3477442"/>
                </a:lnTo>
                <a:lnTo>
                  <a:pt x="0" y="347744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flipH="1">
            <a:off x="-1215751" y="7519579"/>
            <a:ext cx="7315200" cy="3477441"/>
          </a:xfrm>
          <a:custGeom>
            <a:avLst/>
            <a:gdLst/>
            <a:ahLst/>
            <a:cxnLst/>
            <a:rect l="l" t="t" r="r" b="b"/>
            <a:pathLst>
              <a:path w="7315200" h="3477441">
                <a:moveTo>
                  <a:pt x="7315200" y="0"/>
                </a:moveTo>
                <a:lnTo>
                  <a:pt x="0" y="0"/>
                </a:lnTo>
                <a:lnTo>
                  <a:pt x="0" y="3477442"/>
                </a:lnTo>
                <a:lnTo>
                  <a:pt x="7315200" y="3477442"/>
                </a:lnTo>
                <a:lnTo>
                  <a:pt x="731520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5" name="Freeform 5"/>
          <p:cNvSpPr/>
          <p:nvPr/>
        </p:nvSpPr>
        <p:spPr>
          <a:xfrm>
            <a:off x="8062901" y="1028700"/>
            <a:ext cx="702015" cy="596074"/>
          </a:xfrm>
          <a:custGeom>
            <a:avLst/>
            <a:gdLst/>
            <a:ahLst/>
            <a:cxnLst/>
            <a:rect l="l" t="t" r="r" b="b"/>
            <a:pathLst>
              <a:path w="702015" h="596074">
                <a:moveTo>
                  <a:pt x="0" y="0"/>
                </a:moveTo>
                <a:lnTo>
                  <a:pt x="702015" y="0"/>
                </a:lnTo>
                <a:lnTo>
                  <a:pt x="702015" y="596074"/>
                </a:lnTo>
                <a:lnTo>
                  <a:pt x="0" y="59607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6" name="TextBox 6"/>
          <p:cNvSpPr txBox="1"/>
          <p:nvPr/>
        </p:nvSpPr>
        <p:spPr>
          <a:xfrm>
            <a:off x="2224354" y="1697569"/>
            <a:ext cx="11287790" cy="4319153"/>
          </a:xfrm>
          <a:prstGeom prst="rect">
            <a:avLst/>
          </a:prstGeom>
        </p:spPr>
        <p:txBody>
          <a:bodyPr lIns="0" tIns="0" rIns="0" bIns="0" rtlCol="0" anchor="t">
            <a:spAutoFit/>
          </a:bodyPr>
          <a:lstStyle/>
          <a:p>
            <a:pPr algn="r">
              <a:lnSpc>
                <a:spcPts val="11418"/>
              </a:lnSpc>
            </a:pPr>
            <a:r>
              <a:rPr lang="en-US" sz="8155" b="1">
                <a:solidFill>
                  <a:srgbClr val="512615"/>
                </a:solidFill>
                <a:latin typeface="Poppins Bold"/>
                <a:ea typeface="Poppins Bold"/>
                <a:cs typeface="Poppins Bold"/>
                <a:sym typeface="Poppins Bold"/>
              </a:rPr>
              <a:t>Bright Coffee Shop Sales Analysis.</a:t>
            </a:r>
          </a:p>
          <a:p>
            <a:pPr algn="r">
              <a:lnSpc>
                <a:spcPts val="11418"/>
              </a:lnSpc>
              <a:spcBef>
                <a:spcPct val="0"/>
              </a:spcBef>
            </a:pPr>
            <a:r>
              <a:rPr lang="en-US" sz="8155" b="1">
                <a:solidFill>
                  <a:srgbClr val="512615"/>
                </a:solidFill>
                <a:latin typeface="Poppins Bold"/>
                <a:ea typeface="Poppins Bold"/>
                <a:cs typeface="Poppins Bold"/>
                <a:sym typeface="Poppins Bold"/>
              </a:rPr>
              <a:t> </a:t>
            </a:r>
          </a:p>
        </p:txBody>
      </p:sp>
      <p:sp>
        <p:nvSpPr>
          <p:cNvPr id="7" name="Freeform 7"/>
          <p:cNvSpPr/>
          <p:nvPr/>
        </p:nvSpPr>
        <p:spPr>
          <a:xfrm>
            <a:off x="-912737" y="-432626"/>
            <a:ext cx="3882875" cy="4114800"/>
          </a:xfrm>
          <a:custGeom>
            <a:avLst/>
            <a:gdLst/>
            <a:ahLst/>
            <a:cxnLst/>
            <a:rect l="l" t="t" r="r" b="b"/>
            <a:pathLst>
              <a:path w="3882875" h="4114800">
                <a:moveTo>
                  <a:pt x="0" y="0"/>
                </a:moveTo>
                <a:lnTo>
                  <a:pt x="3882874" y="0"/>
                </a:lnTo>
                <a:lnTo>
                  <a:pt x="3882874"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8" name="TextBox 8"/>
          <p:cNvSpPr txBox="1"/>
          <p:nvPr/>
        </p:nvSpPr>
        <p:spPr>
          <a:xfrm>
            <a:off x="4252412" y="4769590"/>
            <a:ext cx="9783175" cy="1095375"/>
          </a:xfrm>
          <a:prstGeom prst="rect">
            <a:avLst/>
          </a:prstGeom>
        </p:spPr>
        <p:txBody>
          <a:bodyPr lIns="0" tIns="0" rIns="0" bIns="0" rtlCol="0" anchor="t">
            <a:spAutoFit/>
          </a:bodyPr>
          <a:lstStyle/>
          <a:p>
            <a:pPr algn="ctr">
              <a:lnSpc>
                <a:spcPts val="8400"/>
              </a:lnSpc>
              <a:spcBef>
                <a:spcPct val="0"/>
              </a:spcBef>
            </a:pPr>
            <a:r>
              <a:rPr lang="en-US" sz="6000">
                <a:solidFill>
                  <a:srgbClr val="512615"/>
                </a:solidFill>
                <a:latin typeface="Poppins"/>
                <a:ea typeface="Poppins"/>
                <a:cs typeface="Poppins"/>
                <a:sym typeface="Poppins"/>
              </a:rPr>
              <a:t>THE WORLD OF</a:t>
            </a:r>
          </a:p>
        </p:txBody>
      </p:sp>
      <p:sp>
        <p:nvSpPr>
          <p:cNvPr id="9" name="TextBox 9"/>
          <p:cNvSpPr txBox="1"/>
          <p:nvPr/>
        </p:nvSpPr>
        <p:spPr>
          <a:xfrm>
            <a:off x="5682440" y="5241585"/>
            <a:ext cx="6805387" cy="2080573"/>
          </a:xfrm>
          <a:prstGeom prst="rect">
            <a:avLst/>
          </a:prstGeom>
        </p:spPr>
        <p:txBody>
          <a:bodyPr lIns="0" tIns="0" rIns="0" bIns="0" rtlCol="0" anchor="t">
            <a:spAutoFit/>
          </a:bodyPr>
          <a:lstStyle/>
          <a:p>
            <a:pPr algn="ctr">
              <a:lnSpc>
                <a:spcPts val="16101"/>
              </a:lnSpc>
              <a:spcBef>
                <a:spcPct val="0"/>
              </a:spcBef>
            </a:pPr>
            <a:r>
              <a:rPr lang="en-US" sz="11501" b="1">
                <a:solidFill>
                  <a:srgbClr val="512615"/>
                </a:solidFill>
                <a:latin typeface="Poppins Bold"/>
                <a:ea typeface="Poppins Bold"/>
                <a:cs typeface="Poppins Bold"/>
                <a:sym typeface="Poppins Bold"/>
              </a:rPr>
              <a:t>COFFEE</a:t>
            </a:r>
          </a:p>
        </p:txBody>
      </p:sp>
      <p:sp>
        <p:nvSpPr>
          <p:cNvPr id="10" name="Freeform 10"/>
          <p:cNvSpPr/>
          <p:nvPr/>
        </p:nvSpPr>
        <p:spPr>
          <a:xfrm flipH="1">
            <a:off x="15315393" y="-432626"/>
            <a:ext cx="3882875" cy="4114800"/>
          </a:xfrm>
          <a:custGeom>
            <a:avLst/>
            <a:gdLst/>
            <a:ahLst/>
            <a:cxnLst/>
            <a:rect l="l" t="t" r="r" b="b"/>
            <a:pathLst>
              <a:path w="3882875" h="4114800">
                <a:moveTo>
                  <a:pt x="3882875" y="0"/>
                </a:moveTo>
                <a:lnTo>
                  <a:pt x="0" y="0"/>
                </a:lnTo>
                <a:lnTo>
                  <a:pt x="0" y="4114800"/>
                </a:lnTo>
                <a:lnTo>
                  <a:pt x="3882875" y="4114800"/>
                </a:lnTo>
                <a:lnTo>
                  <a:pt x="3882875"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1" name="TextBox 11"/>
          <p:cNvSpPr txBox="1"/>
          <p:nvPr/>
        </p:nvSpPr>
        <p:spPr>
          <a:xfrm>
            <a:off x="8613996" y="1183449"/>
            <a:ext cx="3607074" cy="441325"/>
          </a:xfrm>
          <a:prstGeom prst="rect">
            <a:avLst/>
          </a:prstGeom>
        </p:spPr>
        <p:txBody>
          <a:bodyPr lIns="0" tIns="0" rIns="0" bIns="0" rtlCol="0" anchor="t">
            <a:spAutoFit/>
          </a:bodyPr>
          <a:lstStyle/>
          <a:p>
            <a:pPr algn="r">
              <a:lnSpc>
                <a:spcPts val="3499"/>
              </a:lnSpc>
              <a:spcBef>
                <a:spcPct val="0"/>
              </a:spcBef>
            </a:pPr>
            <a:r>
              <a:rPr lang="en-US" sz="2499" b="1">
                <a:solidFill>
                  <a:srgbClr val="512615"/>
                </a:solidFill>
                <a:latin typeface="Poppins Bold"/>
                <a:ea typeface="Poppins Bold"/>
                <a:cs typeface="Poppins Bold"/>
                <a:sym typeface="Poppins Bold"/>
              </a:rPr>
              <a:t>Bright Coffee Shop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a:p>
        </p:txBody>
      </p:sp>
      <p:grpSp>
        <p:nvGrpSpPr>
          <p:cNvPr id="3" name="Group 3"/>
          <p:cNvGrpSpPr/>
          <p:nvPr/>
        </p:nvGrpSpPr>
        <p:grpSpPr>
          <a:xfrm>
            <a:off x="10896863" y="2386076"/>
            <a:ext cx="5514847" cy="551484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ZA"/>
            </a:p>
          </p:txBody>
        </p:sp>
        <p:sp>
          <p:nvSpPr>
            <p:cNvPr id="5" name="TextBox 5"/>
            <p:cNvSpPr txBox="1"/>
            <p:nvPr/>
          </p:nvSpPr>
          <p:spPr>
            <a:xfrm>
              <a:off x="76200" y="9525"/>
              <a:ext cx="660400" cy="727075"/>
            </a:xfrm>
            <a:prstGeom prst="rect">
              <a:avLst/>
            </a:prstGeom>
          </p:spPr>
          <p:txBody>
            <a:bodyPr lIns="50800" tIns="50800" rIns="50800" bIns="50800" rtlCol="0" anchor="ctr"/>
            <a:lstStyle/>
            <a:p>
              <a:pPr algn="ctr">
                <a:lnSpc>
                  <a:spcPts val="3499"/>
                </a:lnSpc>
              </a:pPr>
              <a:endParaRPr/>
            </a:p>
          </p:txBody>
        </p:sp>
      </p:grpSp>
      <p:grpSp>
        <p:nvGrpSpPr>
          <p:cNvPr id="6" name="Group 6"/>
          <p:cNvGrpSpPr/>
          <p:nvPr/>
        </p:nvGrpSpPr>
        <p:grpSpPr>
          <a:xfrm>
            <a:off x="11077808" y="2567022"/>
            <a:ext cx="5152957" cy="515295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4931" r="-24931"/>
              </a:stretch>
            </a:blipFill>
          </p:spPr>
          <p:txBody>
            <a:bodyPr/>
            <a:lstStyle/>
            <a:p>
              <a:endParaRPr lang="en-ZA"/>
            </a:p>
          </p:txBody>
        </p:sp>
      </p:grpSp>
      <p:sp>
        <p:nvSpPr>
          <p:cNvPr id="8" name="TextBox 8"/>
          <p:cNvSpPr txBox="1"/>
          <p:nvPr/>
        </p:nvSpPr>
        <p:spPr>
          <a:xfrm>
            <a:off x="550553" y="3198132"/>
            <a:ext cx="10243109" cy="4521847"/>
          </a:xfrm>
          <a:prstGeom prst="rect">
            <a:avLst/>
          </a:prstGeom>
        </p:spPr>
        <p:txBody>
          <a:bodyPr lIns="0" tIns="0" rIns="0" bIns="0" rtlCol="0" anchor="t">
            <a:spAutoFit/>
          </a:bodyPr>
          <a:lstStyle/>
          <a:p>
            <a:pPr algn="just">
              <a:lnSpc>
                <a:spcPts val="5930"/>
              </a:lnSpc>
            </a:pPr>
            <a:r>
              <a:rPr lang="en-US" sz="4235">
                <a:solidFill>
                  <a:srgbClr val="512615"/>
                </a:solidFill>
                <a:latin typeface="Poppins"/>
                <a:ea typeface="Poppins"/>
                <a:cs typeface="Poppins"/>
                <a:sym typeface="Poppins"/>
              </a:rPr>
              <a:t>TABLE OF CONTENTS</a:t>
            </a:r>
          </a:p>
          <a:p>
            <a:pPr marL="914491" lvl="1" indent="-457246" algn="l">
              <a:lnSpc>
                <a:spcPts val="5930"/>
              </a:lnSpc>
              <a:buFont typeface="Arial"/>
              <a:buChar char="•"/>
            </a:pPr>
            <a:r>
              <a:rPr lang="en-US" sz="4235">
                <a:solidFill>
                  <a:srgbClr val="512615"/>
                </a:solidFill>
                <a:latin typeface="Poppins"/>
                <a:ea typeface="Poppins"/>
                <a:cs typeface="Poppins"/>
                <a:sym typeface="Poppins"/>
              </a:rPr>
              <a:t>Overview</a:t>
            </a:r>
          </a:p>
          <a:p>
            <a:pPr marL="914491" lvl="1" indent="-457246" algn="l">
              <a:lnSpc>
                <a:spcPts val="5930"/>
              </a:lnSpc>
              <a:buFont typeface="Arial"/>
              <a:buChar char="•"/>
            </a:pPr>
            <a:r>
              <a:rPr lang="en-US" sz="4235">
                <a:solidFill>
                  <a:srgbClr val="512615"/>
                </a:solidFill>
                <a:latin typeface="Poppins"/>
                <a:ea typeface="Poppins"/>
                <a:cs typeface="Poppins"/>
                <a:sym typeface="Poppins"/>
              </a:rPr>
              <a:t>Performance deep dive</a:t>
            </a:r>
          </a:p>
          <a:p>
            <a:pPr marL="914491" lvl="1" indent="-457246" algn="l">
              <a:lnSpc>
                <a:spcPts val="5930"/>
              </a:lnSpc>
              <a:buFont typeface="Arial"/>
              <a:buChar char="•"/>
            </a:pPr>
            <a:r>
              <a:rPr lang="en-US" sz="4235">
                <a:solidFill>
                  <a:srgbClr val="512615"/>
                </a:solidFill>
                <a:latin typeface="Poppins"/>
                <a:ea typeface="Poppins"/>
                <a:cs typeface="Poppins"/>
                <a:sym typeface="Poppins"/>
              </a:rPr>
              <a:t>Key findings</a:t>
            </a:r>
          </a:p>
          <a:p>
            <a:pPr marL="914491" lvl="1" indent="-457246" algn="l">
              <a:lnSpc>
                <a:spcPts val="5930"/>
              </a:lnSpc>
              <a:buFont typeface="Arial"/>
              <a:buChar char="•"/>
            </a:pPr>
            <a:r>
              <a:rPr lang="en-US" sz="4235">
                <a:solidFill>
                  <a:srgbClr val="512615"/>
                </a:solidFill>
                <a:latin typeface="Poppins"/>
                <a:ea typeface="Poppins"/>
                <a:cs typeface="Poppins"/>
                <a:sym typeface="Poppins"/>
              </a:rPr>
              <a:t>Recommendations </a:t>
            </a:r>
          </a:p>
          <a:p>
            <a:pPr marL="914491" lvl="1" indent="-457246" algn="l">
              <a:lnSpc>
                <a:spcPts val="5930"/>
              </a:lnSpc>
              <a:buFont typeface="Arial"/>
              <a:buChar char="•"/>
            </a:pPr>
            <a:r>
              <a:rPr lang="en-US" sz="4235">
                <a:solidFill>
                  <a:srgbClr val="512615"/>
                </a:solidFill>
                <a:latin typeface="Poppins"/>
                <a:ea typeface="Poppins"/>
                <a:cs typeface="Poppins"/>
                <a:sym typeface="Poppins"/>
              </a:rPr>
              <a:t>Q &amp; A</a:t>
            </a:r>
          </a:p>
        </p:txBody>
      </p:sp>
      <p:sp>
        <p:nvSpPr>
          <p:cNvPr id="9" name="Freeform 9"/>
          <p:cNvSpPr/>
          <p:nvPr/>
        </p:nvSpPr>
        <p:spPr>
          <a:xfrm>
            <a:off x="15218089" y="7868448"/>
            <a:ext cx="2480566" cy="2418552"/>
          </a:xfrm>
          <a:custGeom>
            <a:avLst/>
            <a:gdLst/>
            <a:ahLst/>
            <a:cxnLst/>
            <a:rect l="l" t="t" r="r" b="b"/>
            <a:pathLst>
              <a:path w="2480566" h="2418552">
                <a:moveTo>
                  <a:pt x="0" y="0"/>
                </a:moveTo>
                <a:lnTo>
                  <a:pt x="2480567" y="0"/>
                </a:lnTo>
                <a:lnTo>
                  <a:pt x="2480567" y="2418552"/>
                </a:lnTo>
                <a:lnTo>
                  <a:pt x="0" y="241855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0" name="Freeform 10"/>
          <p:cNvSpPr/>
          <p:nvPr/>
        </p:nvSpPr>
        <p:spPr>
          <a:xfrm flipH="1">
            <a:off x="15836558" y="570531"/>
            <a:ext cx="1862098" cy="1815546"/>
          </a:xfrm>
          <a:custGeom>
            <a:avLst/>
            <a:gdLst/>
            <a:ahLst/>
            <a:cxnLst/>
            <a:rect l="l" t="t" r="r" b="b"/>
            <a:pathLst>
              <a:path w="1862098" h="1815546">
                <a:moveTo>
                  <a:pt x="1862098" y="0"/>
                </a:moveTo>
                <a:lnTo>
                  <a:pt x="0" y="0"/>
                </a:lnTo>
                <a:lnTo>
                  <a:pt x="0" y="1815545"/>
                </a:lnTo>
                <a:lnTo>
                  <a:pt x="1862098" y="1815545"/>
                </a:lnTo>
                <a:lnTo>
                  <a:pt x="1862098"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11" name="Freeform 11"/>
          <p:cNvSpPr/>
          <p:nvPr/>
        </p:nvSpPr>
        <p:spPr>
          <a:xfrm>
            <a:off x="1028700" y="1028700"/>
            <a:ext cx="702015" cy="596074"/>
          </a:xfrm>
          <a:custGeom>
            <a:avLst/>
            <a:gdLst/>
            <a:ahLst/>
            <a:cxnLst/>
            <a:rect l="l" t="t" r="r" b="b"/>
            <a:pathLst>
              <a:path w="702015" h="596074">
                <a:moveTo>
                  <a:pt x="0" y="0"/>
                </a:moveTo>
                <a:lnTo>
                  <a:pt x="702015" y="0"/>
                </a:lnTo>
                <a:lnTo>
                  <a:pt x="702015" y="596074"/>
                </a:lnTo>
                <a:lnTo>
                  <a:pt x="0" y="59607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2" name="TextBox 12"/>
          <p:cNvSpPr txBox="1"/>
          <p:nvPr/>
        </p:nvSpPr>
        <p:spPr>
          <a:xfrm>
            <a:off x="1522134" y="1183449"/>
            <a:ext cx="3607074" cy="441325"/>
          </a:xfrm>
          <a:prstGeom prst="rect">
            <a:avLst/>
          </a:prstGeom>
        </p:spPr>
        <p:txBody>
          <a:bodyPr lIns="0" tIns="0" rIns="0" bIns="0" rtlCol="0" anchor="t">
            <a:spAutoFit/>
          </a:bodyPr>
          <a:lstStyle/>
          <a:p>
            <a:pPr algn="r">
              <a:lnSpc>
                <a:spcPts val="3499"/>
              </a:lnSpc>
              <a:spcBef>
                <a:spcPct val="0"/>
              </a:spcBef>
            </a:pPr>
            <a:r>
              <a:rPr lang="en-US" sz="2499" b="1">
                <a:solidFill>
                  <a:srgbClr val="512615"/>
                </a:solidFill>
                <a:latin typeface="Poppins Bold"/>
                <a:ea typeface="Poppins Bold"/>
                <a:cs typeface="Poppins Bold"/>
                <a:sym typeface="Poppins Bold"/>
              </a:rPr>
              <a:t>Bright Coffee Shop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a:p>
        </p:txBody>
      </p:sp>
      <p:sp>
        <p:nvSpPr>
          <p:cNvPr id="3" name="Freeform 3"/>
          <p:cNvSpPr/>
          <p:nvPr/>
        </p:nvSpPr>
        <p:spPr>
          <a:xfrm>
            <a:off x="1028700" y="1028700"/>
            <a:ext cx="702015" cy="596074"/>
          </a:xfrm>
          <a:custGeom>
            <a:avLst/>
            <a:gdLst/>
            <a:ahLst/>
            <a:cxnLst/>
            <a:rect l="l" t="t" r="r" b="b"/>
            <a:pathLst>
              <a:path w="702015" h="596074">
                <a:moveTo>
                  <a:pt x="0" y="0"/>
                </a:moveTo>
                <a:lnTo>
                  <a:pt x="702015" y="0"/>
                </a:lnTo>
                <a:lnTo>
                  <a:pt x="702015" y="596074"/>
                </a:lnTo>
                <a:lnTo>
                  <a:pt x="0" y="59607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grpSp>
        <p:nvGrpSpPr>
          <p:cNvPr id="4" name="Group 4"/>
          <p:cNvGrpSpPr/>
          <p:nvPr/>
        </p:nvGrpSpPr>
        <p:grpSpPr>
          <a:xfrm>
            <a:off x="10685281" y="2812637"/>
            <a:ext cx="6574019" cy="7474363"/>
            <a:chOff x="0" y="0"/>
            <a:chExt cx="7516465" cy="8545882"/>
          </a:xfrm>
        </p:grpSpPr>
        <p:sp>
          <p:nvSpPr>
            <p:cNvPr id="5" name="Freeform 5"/>
            <p:cNvSpPr/>
            <p:nvPr/>
          </p:nvSpPr>
          <p:spPr>
            <a:xfrm>
              <a:off x="0" y="0"/>
              <a:ext cx="7516465" cy="8444281"/>
            </a:xfrm>
            <a:custGeom>
              <a:avLst/>
              <a:gdLst/>
              <a:ahLst/>
              <a:cxnLst/>
              <a:rect l="l" t="t" r="r" b="b"/>
              <a:pathLst>
                <a:path w="7516465" h="8444281">
                  <a:moveTo>
                    <a:pt x="0" y="0"/>
                  </a:moveTo>
                  <a:lnTo>
                    <a:pt x="7516465" y="0"/>
                  </a:lnTo>
                  <a:lnTo>
                    <a:pt x="7516465" y="8444281"/>
                  </a:lnTo>
                  <a:lnTo>
                    <a:pt x="0" y="8444281"/>
                  </a:lnTo>
                  <a:close/>
                </a:path>
              </a:pathLst>
            </a:custGeom>
            <a:solidFill>
              <a:srgbClr val="F2F2F2">
                <a:alpha val="89804"/>
              </a:srgbClr>
            </a:solidFill>
          </p:spPr>
          <p:txBody>
            <a:bodyPr/>
            <a:lstStyle/>
            <a:p>
              <a:endParaRPr lang="en-ZA"/>
            </a:p>
          </p:txBody>
        </p:sp>
        <p:sp>
          <p:nvSpPr>
            <p:cNvPr id="6" name="Freeform 6"/>
            <p:cNvSpPr/>
            <p:nvPr/>
          </p:nvSpPr>
          <p:spPr>
            <a:xfrm>
              <a:off x="0" y="0"/>
              <a:ext cx="7516465" cy="8545881"/>
            </a:xfrm>
            <a:custGeom>
              <a:avLst/>
              <a:gdLst/>
              <a:ahLst/>
              <a:cxnLst/>
              <a:rect l="l" t="t" r="r" b="b"/>
              <a:pathLst>
                <a:path w="7516465" h="8545881">
                  <a:moveTo>
                    <a:pt x="0" y="8444281"/>
                  </a:moveTo>
                  <a:lnTo>
                    <a:pt x="7516465" y="8444281"/>
                  </a:lnTo>
                  <a:lnTo>
                    <a:pt x="7389465" y="8545881"/>
                  </a:lnTo>
                  <a:cubicBezTo>
                    <a:pt x="7389465" y="8545881"/>
                    <a:pt x="6398865" y="8469681"/>
                    <a:pt x="6297265" y="8469681"/>
                  </a:cubicBezTo>
                  <a:lnTo>
                    <a:pt x="1219200" y="8469681"/>
                  </a:lnTo>
                  <a:cubicBezTo>
                    <a:pt x="1117600" y="8469681"/>
                    <a:pt x="127000" y="8545881"/>
                    <a:pt x="127000" y="8545881"/>
                  </a:cubicBezTo>
                  <a:lnTo>
                    <a:pt x="0" y="8444281"/>
                  </a:lnTo>
                  <a:lnTo>
                    <a:pt x="0" y="0"/>
                  </a:lnTo>
                  <a:lnTo>
                    <a:pt x="7516465" y="0"/>
                  </a:lnTo>
                  <a:lnTo>
                    <a:pt x="7516465" y="8444281"/>
                  </a:lnTo>
                  <a:lnTo>
                    <a:pt x="12700" y="8444281"/>
                  </a:lnTo>
                  <a:lnTo>
                    <a:pt x="12700" y="8431581"/>
                  </a:lnTo>
                  <a:lnTo>
                    <a:pt x="7503765" y="8431581"/>
                  </a:lnTo>
                  <a:lnTo>
                    <a:pt x="7503765" y="12700"/>
                  </a:lnTo>
                  <a:lnTo>
                    <a:pt x="12700" y="12700"/>
                  </a:lnTo>
                  <a:lnTo>
                    <a:pt x="12700" y="8444281"/>
                  </a:lnTo>
                </a:path>
              </a:pathLst>
            </a:custGeom>
            <a:solidFill>
              <a:srgbClr val="394C60">
                <a:alpha val="784"/>
              </a:srgbClr>
            </a:solidFill>
          </p:spPr>
          <p:txBody>
            <a:bodyPr/>
            <a:lstStyle/>
            <a:p>
              <a:endParaRPr lang="en-ZA"/>
            </a:p>
          </p:txBody>
        </p:sp>
        <p:sp>
          <p:nvSpPr>
            <p:cNvPr id="7" name="TextBox 7"/>
            <p:cNvSpPr txBox="1"/>
            <p:nvPr/>
          </p:nvSpPr>
          <p:spPr>
            <a:xfrm>
              <a:off x="0" y="-85725"/>
              <a:ext cx="7516465" cy="8072807"/>
            </a:xfrm>
            <a:prstGeom prst="rect">
              <a:avLst/>
            </a:prstGeom>
          </p:spPr>
          <p:txBody>
            <a:bodyPr lIns="236963" tIns="236963" rIns="236963" bIns="236963" rtlCol="0" anchor="t"/>
            <a:lstStyle/>
            <a:p>
              <a:pPr algn="l">
                <a:lnSpc>
                  <a:spcPts val="5224"/>
                </a:lnSpc>
              </a:pPr>
              <a:r>
                <a:rPr lang="en-US" sz="3731" b="1">
                  <a:solidFill>
                    <a:srgbClr val="512615">
                      <a:alpha val="89804"/>
                    </a:srgbClr>
                  </a:solidFill>
                  <a:latin typeface="Canva Sans Bold"/>
                  <a:ea typeface="Canva Sans Bold"/>
                  <a:cs typeface="Canva Sans Bold"/>
                  <a:sym typeface="Canva Sans Bold"/>
                </a:rPr>
                <a:t>Product categories:</a:t>
              </a:r>
            </a:p>
            <a:p>
              <a:pPr marL="805661" lvl="1" indent="-402831" algn="l">
                <a:lnSpc>
                  <a:spcPts val="5224"/>
                </a:lnSpc>
                <a:buFont typeface="Arial"/>
                <a:buChar char="•"/>
              </a:pPr>
              <a:r>
                <a:rPr lang="en-US" sz="3731">
                  <a:solidFill>
                    <a:srgbClr val="512615">
                      <a:alpha val="89804"/>
                    </a:srgbClr>
                  </a:solidFill>
                  <a:latin typeface="Canva Sans"/>
                  <a:ea typeface="Canva Sans"/>
                  <a:cs typeface="Canva Sans"/>
                  <a:sym typeface="Canva Sans"/>
                </a:rPr>
                <a:t>Bakery</a:t>
              </a:r>
            </a:p>
            <a:p>
              <a:pPr marL="805661" lvl="1" indent="-402831" algn="l">
                <a:lnSpc>
                  <a:spcPts val="5224"/>
                </a:lnSpc>
                <a:buFont typeface="Arial"/>
                <a:buChar char="•"/>
              </a:pPr>
              <a:r>
                <a:rPr lang="en-US" sz="3731">
                  <a:solidFill>
                    <a:srgbClr val="512615">
                      <a:alpha val="89804"/>
                    </a:srgbClr>
                  </a:solidFill>
                  <a:latin typeface="Canva Sans"/>
                  <a:ea typeface="Canva Sans"/>
                  <a:cs typeface="Canva Sans"/>
                  <a:sym typeface="Canva Sans"/>
                </a:rPr>
                <a:t>Branded</a:t>
              </a:r>
            </a:p>
            <a:p>
              <a:pPr marL="805661" lvl="1" indent="-402831" algn="l">
                <a:lnSpc>
                  <a:spcPts val="5224"/>
                </a:lnSpc>
                <a:buFont typeface="Arial"/>
                <a:buChar char="•"/>
              </a:pPr>
              <a:r>
                <a:rPr lang="en-US" sz="3731">
                  <a:solidFill>
                    <a:srgbClr val="512615">
                      <a:alpha val="89804"/>
                    </a:srgbClr>
                  </a:solidFill>
                  <a:latin typeface="Canva Sans"/>
                  <a:ea typeface="Canva Sans"/>
                  <a:cs typeface="Canva Sans"/>
                  <a:sym typeface="Canva Sans"/>
                </a:rPr>
                <a:t>Coffee</a:t>
              </a:r>
            </a:p>
            <a:p>
              <a:pPr marL="805661" lvl="1" indent="-402831" algn="l">
                <a:lnSpc>
                  <a:spcPts val="5224"/>
                </a:lnSpc>
                <a:buFont typeface="Arial"/>
                <a:buChar char="•"/>
              </a:pPr>
              <a:r>
                <a:rPr lang="en-US" sz="3731">
                  <a:solidFill>
                    <a:srgbClr val="512615">
                      <a:alpha val="89804"/>
                    </a:srgbClr>
                  </a:solidFill>
                  <a:latin typeface="Canva Sans"/>
                  <a:ea typeface="Canva Sans"/>
                  <a:cs typeface="Canva Sans"/>
                  <a:sym typeface="Canva Sans"/>
                </a:rPr>
                <a:t>Coffee beans</a:t>
              </a:r>
            </a:p>
            <a:p>
              <a:pPr marL="805661" lvl="1" indent="-402831" algn="l">
                <a:lnSpc>
                  <a:spcPts val="5224"/>
                </a:lnSpc>
                <a:buFont typeface="Arial"/>
                <a:buChar char="•"/>
              </a:pPr>
              <a:r>
                <a:rPr lang="en-US" sz="3731">
                  <a:solidFill>
                    <a:srgbClr val="512615">
                      <a:alpha val="89804"/>
                    </a:srgbClr>
                  </a:solidFill>
                  <a:latin typeface="Canva Sans"/>
                  <a:ea typeface="Canva Sans"/>
                  <a:cs typeface="Canva Sans"/>
                  <a:sym typeface="Canva Sans"/>
                </a:rPr>
                <a:t>Drinking Chocolate</a:t>
              </a:r>
            </a:p>
            <a:p>
              <a:pPr marL="805661" lvl="1" indent="-402831" algn="l">
                <a:lnSpc>
                  <a:spcPts val="5224"/>
                </a:lnSpc>
                <a:buFont typeface="Arial"/>
                <a:buChar char="•"/>
              </a:pPr>
              <a:r>
                <a:rPr lang="en-US" sz="3731">
                  <a:solidFill>
                    <a:srgbClr val="512615">
                      <a:alpha val="89804"/>
                    </a:srgbClr>
                  </a:solidFill>
                  <a:latin typeface="Canva Sans"/>
                  <a:ea typeface="Canva Sans"/>
                  <a:cs typeface="Canva Sans"/>
                  <a:sym typeface="Canva Sans"/>
                </a:rPr>
                <a:t>Flavours</a:t>
              </a:r>
            </a:p>
            <a:p>
              <a:pPr marL="805661" lvl="1" indent="-402831" algn="l">
                <a:lnSpc>
                  <a:spcPts val="5224"/>
                </a:lnSpc>
                <a:buFont typeface="Arial"/>
                <a:buChar char="•"/>
              </a:pPr>
              <a:r>
                <a:rPr lang="en-US" sz="3731">
                  <a:solidFill>
                    <a:srgbClr val="512615">
                      <a:alpha val="89804"/>
                    </a:srgbClr>
                  </a:solidFill>
                  <a:latin typeface="Canva Sans"/>
                  <a:ea typeface="Canva Sans"/>
                  <a:cs typeface="Canva Sans"/>
                  <a:sym typeface="Canva Sans"/>
                </a:rPr>
                <a:t>Loose tea</a:t>
              </a:r>
            </a:p>
            <a:p>
              <a:pPr marL="805661" lvl="1" indent="-402831" algn="l">
                <a:lnSpc>
                  <a:spcPts val="5224"/>
                </a:lnSpc>
                <a:buFont typeface="Arial"/>
                <a:buChar char="•"/>
              </a:pPr>
              <a:r>
                <a:rPr lang="en-US" sz="3731">
                  <a:solidFill>
                    <a:srgbClr val="512615">
                      <a:alpha val="89804"/>
                    </a:srgbClr>
                  </a:solidFill>
                  <a:latin typeface="Canva Sans"/>
                  <a:ea typeface="Canva Sans"/>
                  <a:cs typeface="Canva Sans"/>
                  <a:sym typeface="Canva Sans"/>
                </a:rPr>
                <a:t>Packaged Chocolate</a:t>
              </a:r>
            </a:p>
            <a:p>
              <a:pPr marL="805661" lvl="1" indent="-402831" algn="l">
                <a:lnSpc>
                  <a:spcPts val="5224"/>
                </a:lnSpc>
                <a:buFont typeface="Arial"/>
                <a:buChar char="•"/>
              </a:pPr>
              <a:r>
                <a:rPr lang="en-US" sz="3731">
                  <a:solidFill>
                    <a:srgbClr val="512615">
                      <a:alpha val="89804"/>
                    </a:srgbClr>
                  </a:solidFill>
                  <a:latin typeface="Canva Sans"/>
                  <a:ea typeface="Canva Sans"/>
                  <a:cs typeface="Canva Sans"/>
                  <a:sym typeface="Canva Sans"/>
                </a:rPr>
                <a:t>Tea</a:t>
              </a:r>
            </a:p>
          </p:txBody>
        </p:sp>
      </p:grpSp>
      <p:sp>
        <p:nvSpPr>
          <p:cNvPr id="8" name="TextBox 8"/>
          <p:cNvSpPr txBox="1"/>
          <p:nvPr/>
        </p:nvSpPr>
        <p:spPr>
          <a:xfrm>
            <a:off x="410605" y="3278282"/>
            <a:ext cx="9400893" cy="6136263"/>
          </a:xfrm>
          <a:prstGeom prst="rect">
            <a:avLst/>
          </a:prstGeom>
        </p:spPr>
        <p:txBody>
          <a:bodyPr lIns="0" tIns="0" rIns="0" bIns="0" rtlCol="0" anchor="t">
            <a:spAutoFit/>
          </a:bodyPr>
          <a:lstStyle/>
          <a:p>
            <a:pPr algn="just">
              <a:lnSpc>
                <a:spcPts val="5409"/>
              </a:lnSpc>
            </a:pPr>
            <a:r>
              <a:rPr lang="en-US" sz="3864">
                <a:solidFill>
                  <a:srgbClr val="512615"/>
                </a:solidFill>
                <a:latin typeface="Poppins"/>
                <a:ea typeface="Poppins"/>
                <a:cs typeface="Poppins"/>
                <a:sym typeface="Poppins"/>
              </a:rPr>
              <a:t>The Total revenue stands at </a:t>
            </a:r>
            <a:r>
              <a:rPr lang="en-US" sz="3864" b="1">
                <a:solidFill>
                  <a:srgbClr val="512615"/>
                </a:solidFill>
                <a:latin typeface="Poppins Bold"/>
                <a:ea typeface="Poppins Bold"/>
                <a:cs typeface="Poppins Bold"/>
                <a:sym typeface="Poppins Bold"/>
              </a:rPr>
              <a:t>R698</a:t>
            </a:r>
            <a:r>
              <a:rPr lang="en-US" sz="3864">
                <a:solidFill>
                  <a:srgbClr val="512615"/>
                </a:solidFill>
                <a:latin typeface="Poppins"/>
                <a:ea typeface="Poppins"/>
                <a:cs typeface="Poppins"/>
                <a:sym typeface="Poppins"/>
              </a:rPr>
              <a:t> </a:t>
            </a:r>
            <a:r>
              <a:rPr lang="en-US" sz="3864" b="1">
                <a:solidFill>
                  <a:srgbClr val="512615"/>
                </a:solidFill>
                <a:latin typeface="Poppins Bold"/>
                <a:ea typeface="Poppins Bold"/>
                <a:cs typeface="Poppins Bold"/>
                <a:sym typeface="Poppins Bold"/>
              </a:rPr>
              <a:t>812.33</a:t>
            </a:r>
            <a:r>
              <a:rPr lang="en-US" sz="3864">
                <a:solidFill>
                  <a:srgbClr val="512615"/>
                </a:solidFill>
                <a:latin typeface="Poppins"/>
                <a:ea typeface="Poppins"/>
                <a:cs typeface="Poppins"/>
                <a:sym typeface="Poppins"/>
              </a:rPr>
              <a:t> with a growing trend across all three locations. We have nine product categories in each store, and only two are performing well.</a:t>
            </a:r>
          </a:p>
          <a:p>
            <a:pPr algn="just">
              <a:lnSpc>
                <a:spcPts val="5409"/>
              </a:lnSpc>
            </a:pPr>
            <a:r>
              <a:rPr lang="en-US" sz="3864" b="1">
                <a:solidFill>
                  <a:srgbClr val="512615"/>
                </a:solidFill>
                <a:latin typeface="Poppins Bold"/>
                <a:ea typeface="Poppins Bold"/>
                <a:cs typeface="Poppins Bold"/>
                <a:sym typeface="Poppins Bold"/>
              </a:rPr>
              <a:t>Stores:</a:t>
            </a:r>
          </a:p>
          <a:p>
            <a:pPr algn="just">
              <a:lnSpc>
                <a:spcPts val="5409"/>
              </a:lnSpc>
            </a:pPr>
            <a:r>
              <a:rPr lang="en-US" sz="3864">
                <a:solidFill>
                  <a:srgbClr val="512615"/>
                </a:solidFill>
                <a:latin typeface="Poppins"/>
                <a:ea typeface="Poppins"/>
                <a:cs typeface="Poppins"/>
                <a:sym typeface="Poppins"/>
              </a:rPr>
              <a:t>ASTORIA.</a:t>
            </a:r>
          </a:p>
          <a:p>
            <a:pPr algn="just">
              <a:lnSpc>
                <a:spcPts val="5409"/>
              </a:lnSpc>
            </a:pPr>
            <a:r>
              <a:rPr lang="en-US" sz="3864">
                <a:solidFill>
                  <a:srgbClr val="512615"/>
                </a:solidFill>
                <a:latin typeface="Poppins"/>
                <a:ea typeface="Poppins"/>
                <a:cs typeface="Poppins"/>
                <a:sym typeface="Poppins"/>
              </a:rPr>
              <a:t>HELL’S KITCHEN.</a:t>
            </a:r>
          </a:p>
          <a:p>
            <a:pPr algn="just">
              <a:lnSpc>
                <a:spcPts val="5409"/>
              </a:lnSpc>
              <a:spcBef>
                <a:spcPct val="0"/>
              </a:spcBef>
            </a:pPr>
            <a:r>
              <a:rPr lang="en-US" sz="3864">
                <a:solidFill>
                  <a:srgbClr val="512615"/>
                </a:solidFill>
                <a:latin typeface="Poppins"/>
                <a:ea typeface="Poppins"/>
                <a:cs typeface="Poppins"/>
                <a:sym typeface="Poppins"/>
              </a:rPr>
              <a:t>LOWER MANHATTAN.</a:t>
            </a:r>
          </a:p>
        </p:txBody>
      </p:sp>
      <p:sp>
        <p:nvSpPr>
          <p:cNvPr id="9" name="TextBox 9"/>
          <p:cNvSpPr txBox="1"/>
          <p:nvPr/>
        </p:nvSpPr>
        <p:spPr>
          <a:xfrm>
            <a:off x="6177643" y="88862"/>
            <a:ext cx="7267710" cy="901700"/>
          </a:xfrm>
          <a:prstGeom prst="rect">
            <a:avLst/>
          </a:prstGeom>
        </p:spPr>
        <p:txBody>
          <a:bodyPr lIns="0" tIns="0" rIns="0" bIns="0" rtlCol="0" anchor="t">
            <a:spAutoFit/>
          </a:bodyPr>
          <a:lstStyle/>
          <a:p>
            <a:pPr algn="l">
              <a:lnSpc>
                <a:spcPts val="7000"/>
              </a:lnSpc>
              <a:spcBef>
                <a:spcPct val="0"/>
              </a:spcBef>
            </a:pPr>
            <a:r>
              <a:rPr lang="en-US" sz="5000" b="1" dirty="0">
                <a:solidFill>
                  <a:srgbClr val="512615"/>
                </a:solidFill>
                <a:latin typeface="Poppins Bold"/>
                <a:ea typeface="Poppins Bold"/>
                <a:cs typeface="Poppins Bold"/>
                <a:sym typeface="Poppins Bold"/>
              </a:rPr>
              <a:t>OVERVIEW</a:t>
            </a:r>
          </a:p>
        </p:txBody>
      </p:sp>
      <p:sp>
        <p:nvSpPr>
          <p:cNvPr id="10" name="TextBox 10"/>
          <p:cNvSpPr txBox="1"/>
          <p:nvPr/>
        </p:nvSpPr>
        <p:spPr>
          <a:xfrm>
            <a:off x="1947345" y="1183449"/>
            <a:ext cx="3066217" cy="441325"/>
          </a:xfrm>
          <a:prstGeom prst="rect">
            <a:avLst/>
          </a:prstGeom>
        </p:spPr>
        <p:txBody>
          <a:bodyPr lIns="0" tIns="0" rIns="0" bIns="0" rtlCol="0" anchor="t">
            <a:spAutoFit/>
          </a:bodyPr>
          <a:lstStyle/>
          <a:p>
            <a:pPr algn="r">
              <a:lnSpc>
                <a:spcPts val="3499"/>
              </a:lnSpc>
              <a:spcBef>
                <a:spcPct val="0"/>
              </a:spcBef>
            </a:pPr>
            <a:r>
              <a:rPr lang="en-US" sz="2499" b="1">
                <a:solidFill>
                  <a:srgbClr val="512615"/>
                </a:solidFill>
                <a:latin typeface="Poppins Bold"/>
                <a:ea typeface="Poppins Bold"/>
                <a:cs typeface="Poppins Bold"/>
                <a:sym typeface="Poppins Bold"/>
              </a:rPr>
              <a:t>Bright Coffee Shop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a:p>
        </p:txBody>
      </p:sp>
      <p:sp>
        <p:nvSpPr>
          <p:cNvPr id="3" name="Freeform 3"/>
          <p:cNvSpPr/>
          <p:nvPr/>
        </p:nvSpPr>
        <p:spPr>
          <a:xfrm>
            <a:off x="1028700" y="1028700"/>
            <a:ext cx="702015" cy="596074"/>
          </a:xfrm>
          <a:custGeom>
            <a:avLst/>
            <a:gdLst/>
            <a:ahLst/>
            <a:cxnLst/>
            <a:rect l="l" t="t" r="r" b="b"/>
            <a:pathLst>
              <a:path w="702015" h="596074">
                <a:moveTo>
                  <a:pt x="0" y="0"/>
                </a:moveTo>
                <a:lnTo>
                  <a:pt x="702015" y="0"/>
                </a:lnTo>
                <a:lnTo>
                  <a:pt x="702015" y="596074"/>
                </a:lnTo>
                <a:lnTo>
                  <a:pt x="0" y="59607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TextBox 4"/>
          <p:cNvSpPr txBox="1"/>
          <p:nvPr/>
        </p:nvSpPr>
        <p:spPr>
          <a:xfrm>
            <a:off x="0" y="3331646"/>
            <a:ext cx="8502964" cy="4682277"/>
          </a:xfrm>
          <a:prstGeom prst="rect">
            <a:avLst/>
          </a:prstGeom>
        </p:spPr>
        <p:txBody>
          <a:bodyPr lIns="0" tIns="0" rIns="0" bIns="0" rtlCol="0" anchor="t">
            <a:spAutoFit/>
          </a:bodyPr>
          <a:lstStyle/>
          <a:p>
            <a:pPr algn="just">
              <a:lnSpc>
                <a:spcPts val="4664"/>
              </a:lnSpc>
              <a:spcBef>
                <a:spcPct val="0"/>
              </a:spcBef>
            </a:pPr>
            <a:r>
              <a:rPr lang="en-US" sz="3331">
                <a:solidFill>
                  <a:srgbClr val="512615"/>
                </a:solidFill>
                <a:latin typeface="Poppins"/>
                <a:ea typeface="Poppins"/>
                <a:cs typeface="Poppins"/>
                <a:sym typeface="Poppins"/>
              </a:rPr>
              <a:t>Hell’s Kitchen slightly outperforms the other locations, contributing 33.84% of total revenue, followed closely by Astoria and Lower Manhattan at 33.23% and 32.92% respectively. However, the differences are minimal(less than 1%), indicating balanced performance across all stores. </a:t>
            </a:r>
          </a:p>
        </p:txBody>
      </p:sp>
      <p:sp>
        <p:nvSpPr>
          <p:cNvPr id="5" name="TextBox 5"/>
          <p:cNvSpPr txBox="1"/>
          <p:nvPr/>
        </p:nvSpPr>
        <p:spPr>
          <a:xfrm>
            <a:off x="2895600" y="58972"/>
            <a:ext cx="8708583" cy="901700"/>
          </a:xfrm>
          <a:prstGeom prst="rect">
            <a:avLst/>
          </a:prstGeom>
        </p:spPr>
        <p:txBody>
          <a:bodyPr lIns="0" tIns="0" rIns="0" bIns="0" rtlCol="0" anchor="t">
            <a:spAutoFit/>
          </a:bodyPr>
          <a:lstStyle/>
          <a:p>
            <a:pPr algn="l">
              <a:lnSpc>
                <a:spcPts val="7000"/>
              </a:lnSpc>
              <a:spcBef>
                <a:spcPct val="0"/>
              </a:spcBef>
            </a:pPr>
            <a:r>
              <a:rPr lang="en-US" sz="5000" b="1" dirty="0">
                <a:solidFill>
                  <a:srgbClr val="512615"/>
                </a:solidFill>
                <a:latin typeface="Poppins Bold"/>
                <a:ea typeface="Poppins Bold"/>
                <a:cs typeface="Poppins Bold"/>
                <a:sym typeface="Poppins Bold"/>
              </a:rPr>
              <a:t>PERFORMANCE DEEP DIVE</a:t>
            </a:r>
          </a:p>
        </p:txBody>
      </p:sp>
      <p:sp>
        <p:nvSpPr>
          <p:cNvPr id="6" name="TextBox 6"/>
          <p:cNvSpPr txBox="1"/>
          <p:nvPr/>
        </p:nvSpPr>
        <p:spPr>
          <a:xfrm>
            <a:off x="1730715" y="1183449"/>
            <a:ext cx="3224077" cy="441325"/>
          </a:xfrm>
          <a:prstGeom prst="rect">
            <a:avLst/>
          </a:prstGeom>
        </p:spPr>
        <p:txBody>
          <a:bodyPr lIns="0" tIns="0" rIns="0" bIns="0" rtlCol="0" anchor="t">
            <a:spAutoFit/>
          </a:bodyPr>
          <a:lstStyle/>
          <a:p>
            <a:pPr algn="r">
              <a:lnSpc>
                <a:spcPts val="3499"/>
              </a:lnSpc>
              <a:spcBef>
                <a:spcPct val="0"/>
              </a:spcBef>
            </a:pPr>
            <a:r>
              <a:rPr lang="en-US" sz="2499" b="1">
                <a:solidFill>
                  <a:srgbClr val="512615"/>
                </a:solidFill>
                <a:latin typeface="Poppins Bold"/>
                <a:ea typeface="Poppins Bold"/>
                <a:cs typeface="Poppins Bold"/>
                <a:sym typeface="Poppins Bold"/>
              </a:rPr>
              <a:t>Bright  Coffee Shop</a:t>
            </a:r>
          </a:p>
        </p:txBody>
      </p:sp>
      <p:sp>
        <p:nvSpPr>
          <p:cNvPr id="7" name="Freeform 7"/>
          <p:cNvSpPr/>
          <p:nvPr/>
        </p:nvSpPr>
        <p:spPr>
          <a:xfrm>
            <a:off x="8837049" y="3220670"/>
            <a:ext cx="9158836" cy="6037630"/>
          </a:xfrm>
          <a:custGeom>
            <a:avLst/>
            <a:gdLst/>
            <a:ahLst/>
            <a:cxnLst/>
            <a:rect l="l" t="t" r="r" b="b"/>
            <a:pathLst>
              <a:path w="9158836" h="6037630">
                <a:moveTo>
                  <a:pt x="0" y="0"/>
                </a:moveTo>
                <a:lnTo>
                  <a:pt x="9158836" y="0"/>
                </a:lnTo>
                <a:lnTo>
                  <a:pt x="9158836" y="6037630"/>
                </a:lnTo>
                <a:lnTo>
                  <a:pt x="0" y="6037630"/>
                </a:lnTo>
                <a:lnTo>
                  <a:pt x="0" y="0"/>
                </a:lnTo>
                <a:close/>
              </a:path>
            </a:pathLst>
          </a:custGeom>
          <a:blipFill>
            <a:blip r:embed="rId4"/>
            <a:stretch>
              <a:fillRect l="-1501" t="-10559" r="-1501"/>
            </a:stretch>
          </a:blipFill>
        </p:spPr>
        <p:txBody>
          <a:bodyPr/>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a:p>
        </p:txBody>
      </p:sp>
      <p:sp>
        <p:nvSpPr>
          <p:cNvPr id="3" name="Freeform 3"/>
          <p:cNvSpPr/>
          <p:nvPr/>
        </p:nvSpPr>
        <p:spPr>
          <a:xfrm>
            <a:off x="1005954" y="419100"/>
            <a:ext cx="702015" cy="596074"/>
          </a:xfrm>
          <a:custGeom>
            <a:avLst/>
            <a:gdLst/>
            <a:ahLst/>
            <a:cxnLst/>
            <a:rect l="l" t="t" r="r" b="b"/>
            <a:pathLst>
              <a:path w="702015" h="596074">
                <a:moveTo>
                  <a:pt x="0" y="0"/>
                </a:moveTo>
                <a:lnTo>
                  <a:pt x="702015" y="0"/>
                </a:lnTo>
                <a:lnTo>
                  <a:pt x="702015" y="596074"/>
                </a:lnTo>
                <a:lnTo>
                  <a:pt x="0" y="59607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TextBox 4"/>
          <p:cNvSpPr txBox="1"/>
          <p:nvPr/>
        </p:nvSpPr>
        <p:spPr>
          <a:xfrm>
            <a:off x="7961" y="1199497"/>
            <a:ext cx="8502964" cy="8407173"/>
          </a:xfrm>
          <a:prstGeom prst="rect">
            <a:avLst/>
          </a:prstGeom>
        </p:spPr>
        <p:txBody>
          <a:bodyPr lIns="0" tIns="0" rIns="0" bIns="0" rtlCol="0" anchor="t">
            <a:spAutoFit/>
          </a:bodyPr>
          <a:lstStyle/>
          <a:p>
            <a:pPr marL="457200" indent="-457200" algn="just">
              <a:lnSpc>
                <a:spcPts val="4664"/>
              </a:lnSpc>
              <a:spcBef>
                <a:spcPct val="0"/>
              </a:spcBef>
              <a:buFont typeface="Arial" panose="020B0604020202020204" pitchFamily="34" charset="0"/>
              <a:buChar char="•"/>
            </a:pPr>
            <a:r>
              <a:rPr lang="en-US" sz="3331" dirty="0">
                <a:solidFill>
                  <a:srgbClr val="512615"/>
                </a:solidFill>
                <a:latin typeface="Poppins"/>
                <a:ea typeface="Poppins"/>
                <a:cs typeface="Poppins"/>
                <a:sym typeface="Poppins"/>
              </a:rPr>
              <a:t>Revenue starts at a relatively stable level, then decreases in March. From March to June, it consistently increases across all locations. This suggests possibly seasonal demand building up over time. </a:t>
            </a:r>
          </a:p>
          <a:p>
            <a:pPr marL="457200" indent="-457200" algn="just">
              <a:lnSpc>
                <a:spcPts val="4664"/>
              </a:lnSpc>
              <a:spcBef>
                <a:spcPct val="0"/>
              </a:spcBef>
              <a:buFont typeface="Arial" panose="020B0604020202020204" pitchFamily="34" charset="0"/>
              <a:buChar char="•"/>
            </a:pPr>
            <a:r>
              <a:rPr lang="en-US" sz="3331" dirty="0">
                <a:solidFill>
                  <a:srgbClr val="512615"/>
                </a:solidFill>
                <a:latin typeface="Poppins"/>
                <a:ea typeface="Poppins"/>
                <a:cs typeface="Poppins"/>
                <a:sym typeface="Poppins"/>
              </a:rPr>
              <a:t>Hell’s Kitchen generates the highest revenue among the three stores, with Astoria following, and Lower Manhattan is behind but still follows the same trend. The gap between the stores is small; Hell’s Kitchen has a slight competitive edge in later months.</a:t>
            </a:r>
          </a:p>
        </p:txBody>
      </p:sp>
      <p:sp>
        <p:nvSpPr>
          <p:cNvPr id="6" name="TextBox 6"/>
          <p:cNvSpPr txBox="1"/>
          <p:nvPr/>
        </p:nvSpPr>
        <p:spPr>
          <a:xfrm>
            <a:off x="1707969" y="603423"/>
            <a:ext cx="3224077" cy="441325"/>
          </a:xfrm>
          <a:prstGeom prst="rect">
            <a:avLst/>
          </a:prstGeom>
        </p:spPr>
        <p:txBody>
          <a:bodyPr lIns="0" tIns="0" rIns="0" bIns="0" rtlCol="0" anchor="t">
            <a:spAutoFit/>
          </a:bodyPr>
          <a:lstStyle/>
          <a:p>
            <a:pPr algn="r">
              <a:lnSpc>
                <a:spcPts val="3499"/>
              </a:lnSpc>
              <a:spcBef>
                <a:spcPct val="0"/>
              </a:spcBef>
            </a:pPr>
            <a:r>
              <a:rPr lang="en-US" sz="2499" b="1" dirty="0">
                <a:solidFill>
                  <a:srgbClr val="512615"/>
                </a:solidFill>
                <a:latin typeface="Poppins Bold"/>
                <a:ea typeface="Poppins Bold"/>
                <a:cs typeface="Poppins Bold"/>
                <a:sym typeface="Poppins Bold"/>
              </a:rPr>
              <a:t>Bright  Coffee Shop</a:t>
            </a:r>
          </a:p>
        </p:txBody>
      </p:sp>
      <p:sp>
        <p:nvSpPr>
          <p:cNvPr id="7" name="Freeform 7"/>
          <p:cNvSpPr/>
          <p:nvPr/>
        </p:nvSpPr>
        <p:spPr>
          <a:xfrm>
            <a:off x="8611094" y="1231910"/>
            <a:ext cx="9567639" cy="6750504"/>
          </a:xfrm>
          <a:custGeom>
            <a:avLst/>
            <a:gdLst/>
            <a:ahLst/>
            <a:cxnLst/>
            <a:rect l="l" t="t" r="r" b="b"/>
            <a:pathLst>
              <a:path w="9567639" h="6750504">
                <a:moveTo>
                  <a:pt x="0" y="0"/>
                </a:moveTo>
                <a:lnTo>
                  <a:pt x="9567639" y="0"/>
                </a:lnTo>
                <a:lnTo>
                  <a:pt x="9567639" y="6750504"/>
                </a:lnTo>
                <a:lnTo>
                  <a:pt x="0" y="6750504"/>
                </a:lnTo>
                <a:lnTo>
                  <a:pt x="0" y="0"/>
                </a:lnTo>
                <a:close/>
              </a:path>
            </a:pathLst>
          </a:custGeom>
          <a:blipFill>
            <a:blip r:embed="rId4"/>
            <a:stretch>
              <a:fillRect l="-1010" r="-5293"/>
            </a:stretch>
          </a:blipFill>
        </p:spPr>
        <p:txBody>
          <a:bodyPr/>
          <a:lstStyle/>
          <a:p>
            <a:endParaRPr/>
          </a:p>
        </p:txBody>
      </p:sp>
      <p:sp>
        <p:nvSpPr>
          <p:cNvPr id="11" name="Rectangle 10"/>
          <p:cNvSpPr/>
          <p:nvPr/>
        </p:nvSpPr>
        <p:spPr>
          <a:xfrm>
            <a:off x="8576975" y="8261503"/>
            <a:ext cx="3243039" cy="1349148"/>
          </a:xfrm>
          <a:prstGeom prst="rect">
            <a:avLst/>
          </a:prstGeom>
          <a:solidFill>
            <a:srgbClr val="FFFFFF"/>
          </a:solidFill>
          <a:ln w="12700">
            <a:solidFill>
              <a:srgbClr val="5C2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937EF8CE-1A1B-0FFC-68AD-DB4A2DC6EA05}"/>
              </a:ext>
            </a:extLst>
          </p:cNvPr>
          <p:cNvSpPr/>
          <p:nvPr/>
        </p:nvSpPr>
        <p:spPr>
          <a:xfrm>
            <a:off x="11889390" y="8225109"/>
            <a:ext cx="3243039" cy="1349148"/>
          </a:xfrm>
          <a:prstGeom prst="rect">
            <a:avLst/>
          </a:prstGeom>
          <a:solidFill>
            <a:srgbClr val="FFFFFF"/>
          </a:solidFill>
          <a:ln w="12700">
            <a:solidFill>
              <a:srgbClr val="5C2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247F4B23-5072-D7C5-A376-71630D77E3F3}"/>
              </a:ext>
            </a:extLst>
          </p:cNvPr>
          <p:cNvSpPr/>
          <p:nvPr/>
        </p:nvSpPr>
        <p:spPr>
          <a:xfrm>
            <a:off x="15215202" y="8225109"/>
            <a:ext cx="3035268" cy="1349148"/>
          </a:xfrm>
          <a:prstGeom prst="rect">
            <a:avLst/>
          </a:prstGeom>
          <a:solidFill>
            <a:srgbClr val="FFFFFF"/>
          </a:solidFill>
          <a:ln w="12700">
            <a:solidFill>
              <a:srgbClr val="5C2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763000" y="8891158"/>
            <a:ext cx="2590800" cy="646331"/>
          </a:xfrm>
          <a:prstGeom prst="rect">
            <a:avLst/>
          </a:prstGeom>
          <a:noFill/>
        </p:spPr>
        <p:txBody>
          <a:bodyPr wrap="square">
            <a:spAutoFit/>
          </a:bodyPr>
          <a:lstStyle/>
          <a:p>
            <a:pPr algn="l"/>
            <a:r>
              <a:rPr b="0" i="0" dirty="0">
                <a:solidFill>
                  <a:srgbClr val="5C4033"/>
                </a:solidFill>
              </a:rPr>
              <a:t>R236,511 total
(33.84)</a:t>
            </a:r>
          </a:p>
        </p:txBody>
      </p:sp>
      <p:sp>
        <p:nvSpPr>
          <p:cNvPr id="17" name="TextBox 16"/>
          <p:cNvSpPr txBox="1"/>
          <p:nvPr/>
        </p:nvSpPr>
        <p:spPr>
          <a:xfrm>
            <a:off x="8763000" y="8384876"/>
            <a:ext cx="1939347" cy="338554"/>
          </a:xfrm>
          <a:prstGeom prst="rect">
            <a:avLst/>
          </a:prstGeom>
          <a:noFill/>
        </p:spPr>
        <p:txBody>
          <a:bodyPr wrap="square">
            <a:spAutoFit/>
          </a:bodyPr>
          <a:lstStyle/>
          <a:p>
            <a:pPr algn="l"/>
            <a:r>
              <a:rPr sz="1600" b="1" i="0" dirty="0">
                <a:solidFill>
                  <a:srgbClr val="4A1C0A"/>
                </a:solidFill>
              </a:rPr>
              <a:t>Hell's Kitchen</a:t>
            </a:r>
          </a:p>
        </p:txBody>
      </p:sp>
      <p:sp>
        <p:nvSpPr>
          <p:cNvPr id="16" name="Rectangle 15"/>
          <p:cNvSpPr/>
          <p:nvPr/>
        </p:nvSpPr>
        <p:spPr>
          <a:xfrm>
            <a:off x="8539444" y="8272307"/>
            <a:ext cx="255401" cy="1378718"/>
          </a:xfrm>
          <a:prstGeom prst="rect">
            <a:avLst/>
          </a:prstGeom>
          <a:solidFill>
            <a:srgbClr val="5C2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1871995" y="8225109"/>
            <a:ext cx="301316" cy="1381561"/>
          </a:xfrm>
          <a:prstGeom prst="rect">
            <a:avLst/>
          </a:prstGeom>
          <a:solidFill>
            <a:srgbClr val="7B3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5215202" y="8225710"/>
            <a:ext cx="177198" cy="1380960"/>
          </a:xfrm>
          <a:prstGeom prst="rect">
            <a:avLst/>
          </a:prstGeom>
          <a:solidFill>
            <a:srgbClr val="A05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2254862" y="8384876"/>
            <a:ext cx="1630680" cy="338554"/>
          </a:xfrm>
          <a:prstGeom prst="rect">
            <a:avLst/>
          </a:prstGeom>
          <a:noFill/>
        </p:spPr>
        <p:txBody>
          <a:bodyPr wrap="square">
            <a:spAutoFit/>
          </a:bodyPr>
          <a:lstStyle/>
          <a:p>
            <a:pPr algn="l"/>
            <a:r>
              <a:rPr sz="1600" b="1" i="0" dirty="0">
                <a:solidFill>
                  <a:srgbClr val="4A1C0A"/>
                </a:solidFill>
              </a:rPr>
              <a:t>Astoria</a:t>
            </a:r>
          </a:p>
        </p:txBody>
      </p:sp>
      <p:sp>
        <p:nvSpPr>
          <p:cNvPr id="21" name="TextBox 20"/>
          <p:cNvSpPr txBox="1"/>
          <p:nvPr/>
        </p:nvSpPr>
        <p:spPr>
          <a:xfrm>
            <a:off x="12318272" y="8720587"/>
            <a:ext cx="1962602" cy="646331"/>
          </a:xfrm>
          <a:prstGeom prst="rect">
            <a:avLst/>
          </a:prstGeom>
          <a:noFill/>
        </p:spPr>
        <p:txBody>
          <a:bodyPr wrap="square">
            <a:spAutoFit/>
          </a:bodyPr>
          <a:lstStyle/>
          <a:p>
            <a:pPr algn="l"/>
            <a:r>
              <a:rPr b="0" i="0" dirty="0">
                <a:solidFill>
                  <a:srgbClr val="5C4033"/>
                </a:solidFill>
              </a:rPr>
              <a:t>R232,244 total
(33.23%)</a:t>
            </a:r>
          </a:p>
        </p:txBody>
      </p:sp>
      <p:sp>
        <p:nvSpPr>
          <p:cNvPr id="10" name="TextBox 9">
            <a:extLst>
              <a:ext uri="{FF2B5EF4-FFF2-40B4-BE49-F238E27FC236}">
                <a16:creationId xmlns:a16="http://schemas.microsoft.com/office/drawing/2014/main" id="{5D553ED7-B4A7-A77E-9967-21617266ABA6}"/>
              </a:ext>
            </a:extLst>
          </p:cNvPr>
          <p:cNvSpPr txBox="1"/>
          <p:nvPr/>
        </p:nvSpPr>
        <p:spPr>
          <a:xfrm>
            <a:off x="15447877" y="8384876"/>
            <a:ext cx="2085432" cy="338554"/>
          </a:xfrm>
          <a:prstGeom prst="rect">
            <a:avLst/>
          </a:prstGeom>
          <a:noFill/>
        </p:spPr>
        <p:txBody>
          <a:bodyPr wrap="square">
            <a:spAutoFit/>
          </a:bodyPr>
          <a:lstStyle/>
          <a:p>
            <a:pPr algn="l"/>
            <a:r>
              <a:rPr sz="1600" b="1" i="0" dirty="0">
                <a:solidFill>
                  <a:srgbClr val="4A1C0A"/>
                </a:solidFill>
              </a:rPr>
              <a:t>Lower Manhattan</a:t>
            </a:r>
          </a:p>
        </p:txBody>
      </p:sp>
      <p:sp>
        <p:nvSpPr>
          <p:cNvPr id="22" name="TextBox 21"/>
          <p:cNvSpPr txBox="1"/>
          <p:nvPr/>
        </p:nvSpPr>
        <p:spPr>
          <a:xfrm>
            <a:off x="15381132" y="8720586"/>
            <a:ext cx="2343602" cy="646331"/>
          </a:xfrm>
          <a:prstGeom prst="rect">
            <a:avLst/>
          </a:prstGeom>
          <a:noFill/>
        </p:spPr>
        <p:txBody>
          <a:bodyPr wrap="square">
            <a:spAutoFit/>
          </a:bodyPr>
          <a:lstStyle/>
          <a:p>
            <a:pPr algn="l"/>
            <a:r>
              <a:rPr b="0" i="0" dirty="0">
                <a:solidFill>
                  <a:srgbClr val="5C4033"/>
                </a:solidFill>
              </a:rPr>
              <a:t>R230,057 total
(32.92%)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0E8"/>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1188720"/>
          </a:xfrm>
          <a:prstGeom prst="rect">
            <a:avLst/>
          </a:prstGeom>
          <a:solidFill>
            <a:srgbClr val="4A1C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7373600" cy="685800"/>
          </a:xfrm>
          <a:prstGeom prst="rect">
            <a:avLst/>
          </a:prstGeom>
          <a:noFill/>
        </p:spPr>
        <p:txBody>
          <a:bodyPr wrap="square">
            <a:spAutoFit/>
          </a:bodyPr>
          <a:lstStyle/>
          <a:p>
            <a:pPr algn="l"/>
            <a:r>
              <a:rPr sz="2600" b="1" i="0">
                <a:solidFill>
                  <a:srgbClr val="FFFFFF"/>
                </a:solidFill>
              </a:rPr>
              <a:t>REVENUE GROWTH TREND  —  Jan to Jun 2023</a:t>
            </a:r>
          </a:p>
        </p:txBody>
      </p:sp>
      <p:sp>
        <p:nvSpPr>
          <p:cNvPr id="4" name="TextBox 3"/>
          <p:cNvSpPr txBox="1"/>
          <p:nvPr/>
        </p:nvSpPr>
        <p:spPr>
          <a:xfrm>
            <a:off x="548640" y="804672"/>
            <a:ext cx="17373600" cy="338554"/>
          </a:xfrm>
          <a:prstGeom prst="rect">
            <a:avLst/>
          </a:prstGeom>
          <a:noFill/>
        </p:spPr>
        <p:txBody>
          <a:bodyPr wrap="square">
            <a:spAutoFit/>
          </a:bodyPr>
          <a:lstStyle/>
          <a:p>
            <a:pPr algn="l"/>
            <a:r>
              <a:rPr sz="1600" b="0" i="1" dirty="0">
                <a:solidFill>
                  <a:srgbClr val="C68642"/>
                </a:solidFill>
              </a:rPr>
              <a:t>Consistent growth across all locations — R81K in Jan rising to R166K in Jun (+104%)</a:t>
            </a:r>
          </a:p>
        </p:txBody>
      </p:sp>
      <p:pic>
        <p:nvPicPr>
          <p:cNvPr id="5" name="Picture 4" descr="revenue_trend.png"/>
          <p:cNvPicPr>
            <a:picLocks noChangeAspect="1"/>
          </p:cNvPicPr>
          <p:nvPr/>
        </p:nvPicPr>
        <p:blipFill>
          <a:blip r:embed="rId2"/>
          <a:stretch>
            <a:fillRect/>
          </a:stretch>
        </p:blipFill>
        <p:spPr>
          <a:xfrm>
            <a:off x="457200" y="1325880"/>
            <a:ext cx="17373600" cy="85953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a:p>
        </p:txBody>
      </p:sp>
      <p:sp>
        <p:nvSpPr>
          <p:cNvPr id="3" name="Freeform 3"/>
          <p:cNvSpPr/>
          <p:nvPr/>
        </p:nvSpPr>
        <p:spPr>
          <a:xfrm>
            <a:off x="1028700" y="432626"/>
            <a:ext cx="702015" cy="596074"/>
          </a:xfrm>
          <a:custGeom>
            <a:avLst/>
            <a:gdLst/>
            <a:ahLst/>
            <a:cxnLst/>
            <a:rect l="l" t="t" r="r" b="b"/>
            <a:pathLst>
              <a:path w="702015" h="596074">
                <a:moveTo>
                  <a:pt x="0" y="0"/>
                </a:moveTo>
                <a:lnTo>
                  <a:pt x="702015" y="0"/>
                </a:lnTo>
                <a:lnTo>
                  <a:pt x="702015" y="596074"/>
                </a:lnTo>
                <a:lnTo>
                  <a:pt x="0" y="59607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TextBox 4"/>
          <p:cNvSpPr txBox="1"/>
          <p:nvPr/>
        </p:nvSpPr>
        <p:spPr>
          <a:xfrm>
            <a:off x="1730715" y="587375"/>
            <a:ext cx="3552357" cy="441325"/>
          </a:xfrm>
          <a:prstGeom prst="rect">
            <a:avLst/>
          </a:prstGeom>
        </p:spPr>
        <p:txBody>
          <a:bodyPr lIns="0" tIns="0" rIns="0" bIns="0" rtlCol="0" anchor="t">
            <a:spAutoFit/>
          </a:bodyPr>
          <a:lstStyle/>
          <a:p>
            <a:pPr algn="r">
              <a:lnSpc>
                <a:spcPts val="3499"/>
              </a:lnSpc>
              <a:spcBef>
                <a:spcPct val="0"/>
              </a:spcBef>
            </a:pPr>
            <a:r>
              <a:rPr lang="en-US" sz="2499" b="1">
                <a:solidFill>
                  <a:srgbClr val="512615"/>
                </a:solidFill>
                <a:latin typeface="Poppins Bold"/>
                <a:ea typeface="Poppins Bold"/>
                <a:cs typeface="Poppins Bold"/>
                <a:sym typeface="Poppins Bold"/>
              </a:rPr>
              <a:t>Bright Coffee Shop</a:t>
            </a:r>
          </a:p>
        </p:txBody>
      </p:sp>
      <p:sp>
        <p:nvSpPr>
          <p:cNvPr id="5" name="TextBox 5"/>
          <p:cNvSpPr txBox="1"/>
          <p:nvPr/>
        </p:nvSpPr>
        <p:spPr>
          <a:xfrm>
            <a:off x="6315609" y="1074297"/>
            <a:ext cx="4252269" cy="759677"/>
          </a:xfrm>
          <a:prstGeom prst="rect">
            <a:avLst/>
          </a:prstGeom>
        </p:spPr>
        <p:txBody>
          <a:bodyPr lIns="0" tIns="0" rIns="0" bIns="0" rtlCol="0" anchor="t">
            <a:spAutoFit/>
          </a:bodyPr>
          <a:lstStyle/>
          <a:p>
            <a:pPr algn="l">
              <a:lnSpc>
                <a:spcPts val="5903"/>
              </a:lnSpc>
              <a:spcBef>
                <a:spcPct val="0"/>
              </a:spcBef>
            </a:pPr>
            <a:r>
              <a:rPr lang="en-US" sz="4216">
                <a:solidFill>
                  <a:srgbClr val="512615"/>
                </a:solidFill>
                <a:latin typeface="Poppins"/>
                <a:ea typeface="Poppins"/>
                <a:cs typeface="Poppins"/>
                <a:sym typeface="Poppins"/>
              </a:rPr>
              <a:t>Key findings</a:t>
            </a:r>
          </a:p>
        </p:txBody>
      </p:sp>
      <p:sp>
        <p:nvSpPr>
          <p:cNvPr id="6" name="Freeform 6"/>
          <p:cNvSpPr/>
          <p:nvPr/>
        </p:nvSpPr>
        <p:spPr>
          <a:xfrm>
            <a:off x="0" y="2102997"/>
            <a:ext cx="7391400" cy="5176260"/>
          </a:xfrm>
          <a:custGeom>
            <a:avLst/>
            <a:gdLst/>
            <a:ahLst/>
            <a:cxnLst/>
            <a:rect l="l" t="t" r="r" b="b"/>
            <a:pathLst>
              <a:path w="11761663" h="7102422">
                <a:moveTo>
                  <a:pt x="0" y="0"/>
                </a:moveTo>
                <a:lnTo>
                  <a:pt x="11761663" y="0"/>
                </a:lnTo>
                <a:lnTo>
                  <a:pt x="11761663" y="7102422"/>
                </a:lnTo>
                <a:lnTo>
                  <a:pt x="0" y="7102422"/>
                </a:lnTo>
                <a:lnTo>
                  <a:pt x="0" y="0"/>
                </a:lnTo>
                <a:close/>
              </a:path>
            </a:pathLst>
          </a:custGeom>
          <a:blipFill>
            <a:blip r:embed="rId4"/>
            <a:stretch>
              <a:fillRect t="-233" r="-2457" b="-1885"/>
            </a:stretch>
          </a:blipFill>
        </p:spPr>
        <p:txBody>
          <a:bodyPr/>
          <a:lstStyle/>
          <a:p>
            <a:endParaRPr/>
          </a:p>
        </p:txBody>
      </p:sp>
      <p:pic>
        <p:nvPicPr>
          <p:cNvPr id="8" name="Picture 7" descr="weekday_revenue.png"/>
          <p:cNvPicPr>
            <a:picLocks noChangeAspect="1"/>
          </p:cNvPicPr>
          <p:nvPr/>
        </p:nvPicPr>
        <p:blipFill>
          <a:blip r:embed="rId5"/>
          <a:stretch>
            <a:fillRect/>
          </a:stretch>
        </p:blipFill>
        <p:spPr>
          <a:xfrm>
            <a:off x="7415284" y="2133137"/>
            <a:ext cx="7391401" cy="5203546"/>
          </a:xfrm>
          <a:prstGeom prst="rect">
            <a:avLst/>
          </a:prstGeom>
        </p:spPr>
      </p:pic>
      <p:sp>
        <p:nvSpPr>
          <p:cNvPr id="9" name="TextBox 8"/>
          <p:cNvSpPr txBox="1"/>
          <p:nvPr/>
        </p:nvSpPr>
        <p:spPr>
          <a:xfrm>
            <a:off x="4549" y="7769337"/>
            <a:ext cx="17373600" cy="2345194"/>
          </a:xfrm>
          <a:prstGeom prst="rect">
            <a:avLst/>
          </a:prstGeom>
          <a:noFill/>
        </p:spPr>
        <p:txBody>
          <a:bodyPr wrap="square">
            <a:spAutoFit/>
          </a:bodyPr>
          <a:lstStyle/>
          <a:p>
            <a:pPr marL="457200" indent="-457200">
              <a:buFont typeface="Arial" panose="020B0604020202020204" pitchFamily="34" charset="0"/>
              <a:buChar char="•"/>
            </a:pPr>
            <a:r>
              <a:rPr sz="2928" dirty="0">
                <a:solidFill>
                  <a:srgbClr val="512615"/>
                </a:solidFill>
                <a:latin typeface="Poppins"/>
                <a:cs typeface="Poppins"/>
              </a:rPr>
              <a:t>Weekdays generate R503,588 (72%) vs R195,225 (28%) on weekends</a:t>
            </a:r>
            <a:r>
              <a:rPr lang="en-ZA" sz="2928" dirty="0">
                <a:solidFill>
                  <a:srgbClr val="512615"/>
                </a:solidFill>
                <a:latin typeface="Poppins"/>
                <a:cs typeface="Poppins"/>
              </a:rPr>
              <a:t>. </a:t>
            </a:r>
            <a:r>
              <a:rPr lang="en-US" sz="2928" dirty="0">
                <a:solidFill>
                  <a:srgbClr val="512615"/>
                </a:solidFill>
                <a:latin typeface="Poppins"/>
                <a:ea typeface="Poppins"/>
                <a:cs typeface="Poppins"/>
                <a:sym typeface="Poppins"/>
              </a:rPr>
              <a:t>The business is clearly weekday-driven. </a:t>
            </a:r>
          </a:p>
          <a:p>
            <a:pPr marL="457200" indent="-457200" algn="l">
              <a:buFont typeface="Arial" panose="020B0604020202020204" pitchFamily="34" charset="0"/>
              <a:buChar char="•"/>
            </a:pPr>
            <a:r>
              <a:rPr lang="en-ZA" sz="2928" dirty="0">
                <a:solidFill>
                  <a:srgbClr val="512615"/>
                </a:solidFill>
                <a:latin typeface="Poppins"/>
                <a:cs typeface="Poppins"/>
              </a:rPr>
              <a:t>Mon &amp; Friday generates the highest weekday revenue R101,677 and R101,373. Tuesday(R99,456)-slight dip which consider Tuesday promotions</a:t>
            </a:r>
          </a:p>
          <a:p>
            <a:pPr marL="457200" indent="-457200" algn="l">
              <a:buFont typeface="Arial" panose="020B0604020202020204" pitchFamily="34" charset="0"/>
              <a:buChar char="•"/>
            </a:pPr>
            <a:r>
              <a:rPr lang="en-ZA" sz="2928" dirty="0">
                <a:solidFill>
                  <a:srgbClr val="512615"/>
                </a:solidFill>
                <a:latin typeface="Poppins"/>
                <a:cs typeface="Poppins"/>
              </a:rPr>
              <a:t>Sunday slightly outperforms Saturday. Weekdays earn 2.6X more than weekend .</a:t>
            </a:r>
            <a:endParaRPr sz="2928" dirty="0">
              <a:solidFill>
                <a:srgbClr val="512615"/>
              </a:solidFill>
              <a:latin typeface="Poppins"/>
              <a:cs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a:p>
        </p:txBody>
      </p:sp>
      <p:sp>
        <p:nvSpPr>
          <p:cNvPr id="4" name="Freeform 4"/>
          <p:cNvSpPr/>
          <p:nvPr/>
        </p:nvSpPr>
        <p:spPr>
          <a:xfrm>
            <a:off x="1028700" y="432626"/>
            <a:ext cx="702015" cy="596074"/>
          </a:xfrm>
          <a:custGeom>
            <a:avLst/>
            <a:gdLst/>
            <a:ahLst/>
            <a:cxnLst/>
            <a:rect l="l" t="t" r="r" b="b"/>
            <a:pathLst>
              <a:path w="702015" h="596074">
                <a:moveTo>
                  <a:pt x="0" y="0"/>
                </a:moveTo>
                <a:lnTo>
                  <a:pt x="702015" y="0"/>
                </a:lnTo>
                <a:lnTo>
                  <a:pt x="702015" y="596074"/>
                </a:lnTo>
                <a:lnTo>
                  <a:pt x="0" y="59607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5" name="TextBox 5"/>
          <p:cNvSpPr txBox="1"/>
          <p:nvPr/>
        </p:nvSpPr>
        <p:spPr>
          <a:xfrm>
            <a:off x="1730715" y="587375"/>
            <a:ext cx="3552357" cy="441325"/>
          </a:xfrm>
          <a:prstGeom prst="rect">
            <a:avLst/>
          </a:prstGeom>
        </p:spPr>
        <p:txBody>
          <a:bodyPr lIns="0" tIns="0" rIns="0" bIns="0" rtlCol="0" anchor="t">
            <a:spAutoFit/>
          </a:bodyPr>
          <a:lstStyle/>
          <a:p>
            <a:pPr algn="r">
              <a:lnSpc>
                <a:spcPts val="3499"/>
              </a:lnSpc>
              <a:spcBef>
                <a:spcPct val="0"/>
              </a:spcBef>
            </a:pPr>
            <a:r>
              <a:rPr lang="en-US" sz="2499" b="1">
                <a:solidFill>
                  <a:srgbClr val="512615"/>
                </a:solidFill>
                <a:latin typeface="Poppins Bold"/>
                <a:ea typeface="Poppins Bold"/>
                <a:cs typeface="Poppins Bold"/>
                <a:sym typeface="Poppins Bold"/>
              </a:rPr>
              <a:t>Bright Coffee Shop</a:t>
            </a:r>
          </a:p>
        </p:txBody>
      </p:sp>
      <p:pic>
        <p:nvPicPr>
          <p:cNvPr id="7" name="Picture 6" descr="time_slots.png"/>
          <p:cNvPicPr>
            <a:picLocks noChangeAspect="1"/>
          </p:cNvPicPr>
          <p:nvPr/>
        </p:nvPicPr>
        <p:blipFill>
          <a:blip r:embed="rId4"/>
          <a:stretch>
            <a:fillRect/>
          </a:stretch>
        </p:blipFill>
        <p:spPr>
          <a:xfrm>
            <a:off x="457200" y="1325880"/>
            <a:ext cx="11430000" cy="8412480"/>
          </a:xfrm>
          <a:prstGeom prst="rect">
            <a:avLst/>
          </a:prstGeom>
        </p:spPr>
      </p:pic>
      <p:sp>
        <p:nvSpPr>
          <p:cNvPr id="8" name="TextBox 7"/>
          <p:cNvSpPr txBox="1"/>
          <p:nvPr/>
        </p:nvSpPr>
        <p:spPr>
          <a:xfrm>
            <a:off x="457200" y="9897754"/>
            <a:ext cx="17373600" cy="365760"/>
          </a:xfrm>
          <a:prstGeom prst="rect">
            <a:avLst/>
          </a:prstGeom>
          <a:noFill/>
        </p:spPr>
        <p:txBody>
          <a:bodyPr wrap="square">
            <a:spAutoFit/>
          </a:bodyPr>
          <a:lstStyle/>
          <a:p>
            <a:pPr algn="l"/>
            <a:r>
              <a:rPr b="0" i="1" dirty="0">
                <a:solidFill>
                  <a:schemeClr val="accent6">
                    <a:lumMod val="50000"/>
                  </a:schemeClr>
                </a:solidFill>
              </a:rPr>
              <a:t>Morning Rush generates R167,869 — 24% of all revenue | Last Call is virtually zero at R2,936</a:t>
            </a:r>
          </a:p>
        </p:txBody>
      </p:sp>
      <p:sp>
        <p:nvSpPr>
          <p:cNvPr id="9" name="Rectangle 8">
            <a:extLst>
              <a:ext uri="{FF2B5EF4-FFF2-40B4-BE49-F238E27FC236}">
                <a16:creationId xmlns:a16="http://schemas.microsoft.com/office/drawing/2014/main" id="{83B15C2A-1514-4F31-B5A1-0A968A5F5C87}"/>
              </a:ext>
            </a:extLst>
          </p:cNvPr>
          <p:cNvSpPr/>
          <p:nvPr/>
        </p:nvSpPr>
        <p:spPr>
          <a:xfrm>
            <a:off x="12161520" y="1371600"/>
            <a:ext cx="5669280" cy="1790700"/>
          </a:xfrm>
          <a:prstGeom prst="rect">
            <a:avLst/>
          </a:prstGeom>
          <a:solidFill>
            <a:srgbClr val="FFFFFF"/>
          </a:solidFill>
          <a:ln w="12700">
            <a:solidFill>
              <a:srgbClr val="5C2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F0867770-A23D-80DF-0A5D-CC370D55CCA1}"/>
              </a:ext>
            </a:extLst>
          </p:cNvPr>
          <p:cNvSpPr/>
          <p:nvPr/>
        </p:nvSpPr>
        <p:spPr>
          <a:xfrm>
            <a:off x="12144460" y="3420754"/>
            <a:ext cx="5669280" cy="1931984"/>
          </a:xfrm>
          <a:prstGeom prst="rect">
            <a:avLst/>
          </a:prstGeom>
          <a:solidFill>
            <a:srgbClr val="FFFFFF"/>
          </a:solidFill>
          <a:ln w="12700">
            <a:solidFill>
              <a:srgbClr val="5C2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BDEE81BC-9A61-09ED-3AF5-EACCC9543CDB}"/>
              </a:ext>
            </a:extLst>
          </p:cNvPr>
          <p:cNvSpPr/>
          <p:nvPr/>
        </p:nvSpPr>
        <p:spPr>
          <a:xfrm>
            <a:off x="12161520" y="5705094"/>
            <a:ext cx="5669280" cy="1912620"/>
          </a:xfrm>
          <a:prstGeom prst="rect">
            <a:avLst/>
          </a:prstGeom>
          <a:solidFill>
            <a:srgbClr val="FFFFFF"/>
          </a:solidFill>
          <a:ln w="12700">
            <a:solidFill>
              <a:srgbClr val="5C2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109AF463-5C37-2296-8B35-35E40357BCB0}"/>
              </a:ext>
            </a:extLst>
          </p:cNvPr>
          <p:cNvSpPr/>
          <p:nvPr/>
        </p:nvSpPr>
        <p:spPr>
          <a:xfrm>
            <a:off x="12222253" y="7897972"/>
            <a:ext cx="5669280" cy="1912620"/>
          </a:xfrm>
          <a:prstGeom prst="rect">
            <a:avLst/>
          </a:prstGeom>
          <a:solidFill>
            <a:srgbClr val="FFFFFF"/>
          </a:solidFill>
          <a:ln w="12700">
            <a:solidFill>
              <a:srgbClr val="5C2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2161520" y="1371600"/>
            <a:ext cx="320040" cy="1807464"/>
          </a:xfrm>
          <a:prstGeom prst="rect">
            <a:avLst/>
          </a:prstGeom>
          <a:solidFill>
            <a:srgbClr val="5C2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2144459" y="3420754"/>
            <a:ext cx="337101" cy="1931984"/>
          </a:xfrm>
          <a:prstGeom prst="rect">
            <a:avLst/>
          </a:prstGeom>
          <a:solidFill>
            <a:srgbClr val="7B3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2161520" y="5705094"/>
            <a:ext cx="320040" cy="1899508"/>
          </a:xfrm>
          <a:prstGeom prst="rect">
            <a:avLst/>
          </a:prstGeom>
          <a:solidFill>
            <a:srgbClr val="A05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2209970" y="7909560"/>
            <a:ext cx="320040" cy="1931984"/>
          </a:xfrm>
          <a:prstGeom prst="rect">
            <a:avLst/>
          </a:prstGeom>
          <a:solidFill>
            <a:srgbClr val="C68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573000" y="1481328"/>
            <a:ext cx="5166360" cy="338554"/>
          </a:xfrm>
          <a:prstGeom prst="rect">
            <a:avLst/>
          </a:prstGeom>
          <a:noFill/>
        </p:spPr>
        <p:txBody>
          <a:bodyPr wrap="square">
            <a:spAutoFit/>
          </a:bodyPr>
          <a:lstStyle/>
          <a:p>
            <a:pPr algn="l"/>
            <a:r>
              <a:rPr sz="1600" b="1" i="0" dirty="0">
                <a:solidFill>
                  <a:srgbClr val="4A1C0A"/>
                </a:solidFill>
              </a:rPr>
              <a:t>Morning Rush</a:t>
            </a:r>
          </a:p>
        </p:txBody>
      </p:sp>
      <p:sp>
        <p:nvSpPr>
          <p:cNvPr id="18" name="TextBox 17"/>
          <p:cNvSpPr txBox="1"/>
          <p:nvPr/>
        </p:nvSpPr>
        <p:spPr>
          <a:xfrm>
            <a:off x="12573000" y="3694176"/>
            <a:ext cx="5166360" cy="338554"/>
          </a:xfrm>
          <a:prstGeom prst="rect">
            <a:avLst/>
          </a:prstGeom>
          <a:noFill/>
        </p:spPr>
        <p:txBody>
          <a:bodyPr wrap="square">
            <a:spAutoFit/>
          </a:bodyPr>
          <a:lstStyle/>
          <a:p>
            <a:pPr algn="l"/>
            <a:r>
              <a:rPr sz="1600" b="1" i="0" dirty="0">
                <a:solidFill>
                  <a:srgbClr val="4A1C0A"/>
                </a:solidFill>
              </a:rPr>
              <a:t>Late Morning</a:t>
            </a:r>
          </a:p>
        </p:txBody>
      </p:sp>
      <p:sp>
        <p:nvSpPr>
          <p:cNvPr id="20" name="TextBox 19">
            <a:extLst>
              <a:ext uri="{FF2B5EF4-FFF2-40B4-BE49-F238E27FC236}">
                <a16:creationId xmlns:a16="http://schemas.microsoft.com/office/drawing/2014/main" id="{315A2FE5-757D-A93C-0C87-6918C853F206}"/>
              </a:ext>
            </a:extLst>
          </p:cNvPr>
          <p:cNvSpPr txBox="1"/>
          <p:nvPr/>
        </p:nvSpPr>
        <p:spPr>
          <a:xfrm>
            <a:off x="12573000" y="5907024"/>
            <a:ext cx="5166360" cy="338554"/>
          </a:xfrm>
          <a:prstGeom prst="rect">
            <a:avLst/>
          </a:prstGeom>
          <a:noFill/>
        </p:spPr>
        <p:txBody>
          <a:bodyPr wrap="square">
            <a:spAutoFit/>
          </a:bodyPr>
          <a:lstStyle/>
          <a:p>
            <a:pPr algn="l"/>
            <a:r>
              <a:rPr sz="1600" b="1" i="0" dirty="0">
                <a:solidFill>
                  <a:srgbClr val="4A1C0A"/>
                </a:solidFill>
              </a:rPr>
              <a:t>Last Call</a:t>
            </a:r>
          </a:p>
        </p:txBody>
      </p:sp>
      <p:sp>
        <p:nvSpPr>
          <p:cNvPr id="21" name="TextBox 20">
            <a:extLst>
              <a:ext uri="{FF2B5EF4-FFF2-40B4-BE49-F238E27FC236}">
                <a16:creationId xmlns:a16="http://schemas.microsoft.com/office/drawing/2014/main" id="{285EBBB9-8584-3CC9-C502-9CFA8BAEB39F}"/>
              </a:ext>
            </a:extLst>
          </p:cNvPr>
          <p:cNvSpPr txBox="1"/>
          <p:nvPr/>
        </p:nvSpPr>
        <p:spPr>
          <a:xfrm>
            <a:off x="12573000" y="8119871"/>
            <a:ext cx="5166360" cy="338554"/>
          </a:xfrm>
          <a:prstGeom prst="rect">
            <a:avLst/>
          </a:prstGeom>
          <a:noFill/>
        </p:spPr>
        <p:txBody>
          <a:bodyPr wrap="square">
            <a:spAutoFit/>
          </a:bodyPr>
          <a:lstStyle/>
          <a:p>
            <a:pPr algn="l"/>
            <a:r>
              <a:rPr sz="1400" b="1" i="0" dirty="0">
                <a:solidFill>
                  <a:srgbClr val="4A1C0A"/>
                </a:solidFill>
              </a:rPr>
              <a:t> </a:t>
            </a:r>
            <a:r>
              <a:rPr sz="1600" b="1" i="0" dirty="0">
                <a:solidFill>
                  <a:srgbClr val="4A1C0A"/>
                </a:solidFill>
              </a:rPr>
              <a:t>Action</a:t>
            </a:r>
          </a:p>
        </p:txBody>
      </p:sp>
      <p:sp>
        <p:nvSpPr>
          <p:cNvPr id="22" name="TextBox 21"/>
          <p:cNvSpPr txBox="1"/>
          <p:nvPr/>
        </p:nvSpPr>
        <p:spPr>
          <a:xfrm>
            <a:off x="12601433" y="2084522"/>
            <a:ext cx="5166360" cy="646331"/>
          </a:xfrm>
          <a:prstGeom prst="rect">
            <a:avLst/>
          </a:prstGeom>
          <a:noFill/>
        </p:spPr>
        <p:txBody>
          <a:bodyPr wrap="square">
            <a:spAutoFit/>
          </a:bodyPr>
          <a:lstStyle/>
          <a:p>
            <a:pPr algn="l"/>
            <a:r>
              <a:rPr b="0" i="0" dirty="0">
                <a:solidFill>
                  <a:srgbClr val="5C4033"/>
                </a:solidFill>
              </a:rPr>
              <a:t>R167,869 — highest slot
(24% of total revenue)</a:t>
            </a:r>
          </a:p>
        </p:txBody>
      </p:sp>
      <p:sp>
        <p:nvSpPr>
          <p:cNvPr id="23" name="TextBox 22">
            <a:extLst>
              <a:ext uri="{FF2B5EF4-FFF2-40B4-BE49-F238E27FC236}">
                <a16:creationId xmlns:a16="http://schemas.microsoft.com/office/drawing/2014/main" id="{E5E97B6E-6C98-E482-972D-2CFEED11481E}"/>
              </a:ext>
            </a:extLst>
          </p:cNvPr>
          <p:cNvSpPr txBox="1"/>
          <p:nvPr/>
        </p:nvSpPr>
        <p:spPr>
          <a:xfrm>
            <a:off x="12573000" y="4224528"/>
            <a:ext cx="5166360" cy="646331"/>
          </a:xfrm>
          <a:prstGeom prst="rect">
            <a:avLst/>
          </a:prstGeom>
          <a:noFill/>
        </p:spPr>
        <p:txBody>
          <a:bodyPr wrap="square">
            <a:spAutoFit/>
          </a:bodyPr>
          <a:lstStyle/>
          <a:p>
            <a:pPr algn="l"/>
            <a:r>
              <a:rPr b="0" i="0" dirty="0">
                <a:solidFill>
                  <a:srgbClr val="5C4033"/>
                </a:solidFill>
              </a:rPr>
              <a:t>R134,993 — strong follow-up
(19.3% of total revenue)</a:t>
            </a:r>
          </a:p>
        </p:txBody>
      </p:sp>
      <p:sp>
        <p:nvSpPr>
          <p:cNvPr id="24" name="TextBox 23"/>
          <p:cNvSpPr txBox="1"/>
          <p:nvPr/>
        </p:nvSpPr>
        <p:spPr>
          <a:xfrm>
            <a:off x="12573000" y="6437376"/>
            <a:ext cx="5166360" cy="646331"/>
          </a:xfrm>
          <a:prstGeom prst="rect">
            <a:avLst/>
          </a:prstGeom>
          <a:noFill/>
        </p:spPr>
        <p:txBody>
          <a:bodyPr wrap="square">
            <a:spAutoFit/>
          </a:bodyPr>
          <a:lstStyle/>
          <a:p>
            <a:pPr algn="l"/>
            <a:r>
              <a:rPr b="0" i="0" dirty="0">
                <a:solidFill>
                  <a:srgbClr val="5C4033"/>
                </a:solidFill>
              </a:rPr>
              <a:t>R2,936 — virtually zero
Opportunity: delivery &amp; takeaway</a:t>
            </a:r>
          </a:p>
        </p:txBody>
      </p:sp>
      <p:sp>
        <p:nvSpPr>
          <p:cNvPr id="25" name="TextBox 24"/>
          <p:cNvSpPr txBox="1"/>
          <p:nvPr/>
        </p:nvSpPr>
        <p:spPr>
          <a:xfrm>
            <a:off x="12573000" y="8650224"/>
            <a:ext cx="5166360" cy="646331"/>
          </a:xfrm>
          <a:prstGeom prst="rect">
            <a:avLst/>
          </a:prstGeom>
          <a:noFill/>
        </p:spPr>
        <p:txBody>
          <a:bodyPr wrap="square">
            <a:spAutoFit/>
          </a:bodyPr>
          <a:lstStyle/>
          <a:p>
            <a:pPr algn="l"/>
            <a:r>
              <a:rPr b="0" i="0" dirty="0">
                <a:solidFill>
                  <a:srgbClr val="5C4033"/>
                </a:solidFill>
              </a:rPr>
              <a:t>Focus staff &amp; promotions on
</a:t>
            </a:r>
            <a:r>
              <a:rPr lang="en-ZA" b="0" i="0" dirty="0">
                <a:solidFill>
                  <a:srgbClr val="5C4033"/>
                </a:solidFill>
              </a:rPr>
              <a:t>low performing time slots</a:t>
            </a:r>
            <a:endParaRPr b="0" i="0" dirty="0">
              <a:solidFill>
                <a:srgbClr val="5C4033"/>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a:p>
        </p:txBody>
      </p:sp>
      <p:sp>
        <p:nvSpPr>
          <p:cNvPr id="4" name="Freeform 4"/>
          <p:cNvSpPr/>
          <p:nvPr/>
        </p:nvSpPr>
        <p:spPr>
          <a:xfrm>
            <a:off x="990600" y="341186"/>
            <a:ext cx="702015" cy="596074"/>
          </a:xfrm>
          <a:custGeom>
            <a:avLst/>
            <a:gdLst/>
            <a:ahLst/>
            <a:cxnLst/>
            <a:rect l="l" t="t" r="r" b="b"/>
            <a:pathLst>
              <a:path w="702015" h="596074">
                <a:moveTo>
                  <a:pt x="0" y="0"/>
                </a:moveTo>
                <a:lnTo>
                  <a:pt x="702015" y="0"/>
                </a:lnTo>
                <a:lnTo>
                  <a:pt x="702015" y="596074"/>
                </a:lnTo>
                <a:lnTo>
                  <a:pt x="0" y="59607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7" name="TextBox 7"/>
          <p:cNvSpPr txBox="1"/>
          <p:nvPr/>
        </p:nvSpPr>
        <p:spPr>
          <a:xfrm>
            <a:off x="1715361" y="511289"/>
            <a:ext cx="3151681" cy="441325"/>
          </a:xfrm>
          <a:prstGeom prst="rect">
            <a:avLst/>
          </a:prstGeom>
        </p:spPr>
        <p:txBody>
          <a:bodyPr lIns="0" tIns="0" rIns="0" bIns="0" rtlCol="0" anchor="t">
            <a:spAutoFit/>
          </a:bodyPr>
          <a:lstStyle/>
          <a:p>
            <a:pPr algn="r">
              <a:lnSpc>
                <a:spcPts val="3499"/>
              </a:lnSpc>
              <a:spcBef>
                <a:spcPct val="0"/>
              </a:spcBef>
            </a:pPr>
            <a:r>
              <a:rPr lang="en-US" sz="2499" b="1" dirty="0">
                <a:solidFill>
                  <a:srgbClr val="512615"/>
                </a:solidFill>
                <a:latin typeface="Poppins Bold"/>
                <a:ea typeface="Poppins Bold"/>
                <a:cs typeface="Poppins Bold"/>
                <a:sym typeface="Poppins Bold"/>
              </a:rPr>
              <a:t>Bright Coffee Shop</a:t>
            </a:r>
          </a:p>
        </p:txBody>
      </p:sp>
      <p:pic>
        <p:nvPicPr>
          <p:cNvPr id="8" name="Picture 7" descr="product_category.png"/>
          <p:cNvPicPr>
            <a:picLocks noChangeAspect="1"/>
          </p:cNvPicPr>
          <p:nvPr/>
        </p:nvPicPr>
        <p:blipFill>
          <a:blip r:embed="rId4"/>
          <a:stretch>
            <a:fillRect/>
          </a:stretch>
        </p:blipFill>
        <p:spPr>
          <a:xfrm>
            <a:off x="89051" y="989577"/>
            <a:ext cx="11808498" cy="7795564"/>
          </a:xfrm>
          <a:prstGeom prst="rect">
            <a:avLst/>
          </a:prstGeom>
        </p:spPr>
      </p:pic>
      <p:sp>
        <p:nvSpPr>
          <p:cNvPr id="9" name="TextBox 8"/>
          <p:cNvSpPr txBox="1"/>
          <p:nvPr/>
        </p:nvSpPr>
        <p:spPr>
          <a:xfrm>
            <a:off x="65167" y="8951960"/>
            <a:ext cx="17373600" cy="1246110"/>
          </a:xfrm>
          <a:prstGeom prst="rect">
            <a:avLst/>
          </a:prstGeom>
          <a:noFill/>
        </p:spPr>
        <p:txBody>
          <a:bodyPr wrap="square">
            <a:spAutoFit/>
          </a:bodyPr>
          <a:lstStyle/>
          <a:p>
            <a:pPr algn="l"/>
            <a:r>
              <a:rPr sz="2499" dirty="0">
                <a:solidFill>
                  <a:srgbClr val="512615"/>
                </a:solidFill>
                <a:latin typeface="Poppins"/>
                <a:cs typeface="Poppins"/>
              </a:rPr>
              <a:t>Coffee (38.6%) + Tea (28.1%) = 66.7% of all revenue — they are the business backbone</a:t>
            </a:r>
            <a:r>
              <a:rPr lang="en-ZA" sz="2499" dirty="0">
                <a:solidFill>
                  <a:srgbClr val="512615"/>
                </a:solidFill>
                <a:latin typeface="Poppins"/>
                <a:cs typeface="Poppins"/>
              </a:rPr>
              <a:t>. Although Coffee is dominant, Coffee beans is underperforming. This indicates customer buying coffee to consume rather than purchasing beans for home brewing. </a:t>
            </a:r>
            <a:endParaRPr sz="2499" dirty="0">
              <a:solidFill>
                <a:srgbClr val="512615"/>
              </a:solidFill>
              <a:latin typeface="Poppins"/>
              <a:cs typeface="Poppins"/>
            </a:endParaRPr>
          </a:p>
        </p:txBody>
      </p:sp>
      <p:sp>
        <p:nvSpPr>
          <p:cNvPr id="10" name="Rectangle 9"/>
          <p:cNvSpPr/>
          <p:nvPr/>
        </p:nvSpPr>
        <p:spPr>
          <a:xfrm>
            <a:off x="12158108" y="253791"/>
            <a:ext cx="5669280" cy="1633075"/>
          </a:xfrm>
          <a:prstGeom prst="rect">
            <a:avLst/>
          </a:prstGeom>
          <a:solidFill>
            <a:srgbClr val="FFFFFF"/>
          </a:solidFill>
          <a:ln w="12700">
            <a:solidFill>
              <a:srgbClr val="5C2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CEB50886-0834-29BE-6B56-643F36728FD1}"/>
              </a:ext>
            </a:extLst>
          </p:cNvPr>
          <p:cNvSpPr/>
          <p:nvPr/>
        </p:nvSpPr>
        <p:spPr>
          <a:xfrm>
            <a:off x="12158108" y="2264676"/>
            <a:ext cx="5669280" cy="1735824"/>
          </a:xfrm>
          <a:prstGeom prst="rect">
            <a:avLst/>
          </a:prstGeom>
          <a:solidFill>
            <a:srgbClr val="FFFFFF"/>
          </a:solidFill>
          <a:ln w="12700">
            <a:solidFill>
              <a:srgbClr val="5C2D0A"/>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dirty="0">
              <a:solidFill>
                <a:srgbClr val="5C4033"/>
              </a:solidFill>
            </a:endParaRPr>
          </a:p>
        </p:txBody>
      </p:sp>
      <p:sp>
        <p:nvSpPr>
          <p:cNvPr id="12" name="Rectangle 11">
            <a:extLst>
              <a:ext uri="{FF2B5EF4-FFF2-40B4-BE49-F238E27FC236}">
                <a16:creationId xmlns:a16="http://schemas.microsoft.com/office/drawing/2014/main" id="{0267C2A5-3374-EB7F-87AC-E193FB85BA98}"/>
              </a:ext>
            </a:extLst>
          </p:cNvPr>
          <p:cNvSpPr/>
          <p:nvPr/>
        </p:nvSpPr>
        <p:spPr>
          <a:xfrm>
            <a:off x="12158108" y="4348171"/>
            <a:ext cx="5669280" cy="1735824"/>
          </a:xfrm>
          <a:prstGeom prst="rect">
            <a:avLst/>
          </a:prstGeom>
          <a:solidFill>
            <a:srgbClr val="FFFFFF"/>
          </a:solidFill>
          <a:ln w="12700">
            <a:solidFill>
              <a:srgbClr val="5C2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98407B75-EB2B-8B7E-51E1-5F3F93DAA635}"/>
              </a:ext>
            </a:extLst>
          </p:cNvPr>
          <p:cNvSpPr/>
          <p:nvPr/>
        </p:nvSpPr>
        <p:spPr>
          <a:xfrm>
            <a:off x="12184266" y="6396978"/>
            <a:ext cx="5669280" cy="1917184"/>
          </a:xfrm>
          <a:prstGeom prst="rect">
            <a:avLst/>
          </a:prstGeom>
          <a:solidFill>
            <a:srgbClr val="FFFFFF"/>
          </a:solidFill>
          <a:ln w="12700">
            <a:solidFill>
              <a:srgbClr val="5C2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435726" y="731951"/>
            <a:ext cx="5166360" cy="646331"/>
          </a:xfrm>
          <a:prstGeom prst="rect">
            <a:avLst/>
          </a:prstGeom>
          <a:noFill/>
        </p:spPr>
        <p:txBody>
          <a:bodyPr wrap="square">
            <a:spAutoFit/>
          </a:bodyPr>
          <a:lstStyle/>
          <a:p>
            <a:pPr algn="l"/>
            <a:r>
              <a:rPr b="0" i="0" dirty="0">
                <a:solidFill>
                  <a:srgbClr val="5C4033"/>
                </a:solidFill>
              </a:rPr>
              <a:t>R269,952 — dominant category
38.6% of total revenue</a:t>
            </a:r>
          </a:p>
        </p:txBody>
      </p:sp>
      <p:sp>
        <p:nvSpPr>
          <p:cNvPr id="15" name="Rectangle 14"/>
          <p:cNvSpPr/>
          <p:nvPr/>
        </p:nvSpPr>
        <p:spPr>
          <a:xfrm>
            <a:off x="12136158" y="263690"/>
            <a:ext cx="299568" cy="1623176"/>
          </a:xfrm>
          <a:prstGeom prst="rect">
            <a:avLst/>
          </a:prstGeom>
          <a:solidFill>
            <a:srgbClr val="5C2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2136158" y="2271664"/>
            <a:ext cx="299568" cy="1735824"/>
          </a:xfrm>
          <a:prstGeom prst="rect">
            <a:avLst/>
          </a:prstGeom>
          <a:solidFill>
            <a:srgbClr val="7B3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2158108" y="4348171"/>
            <a:ext cx="277618" cy="1735824"/>
          </a:xfrm>
          <a:prstGeom prst="rect">
            <a:avLst/>
          </a:prstGeom>
          <a:solidFill>
            <a:srgbClr val="A05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2207012" y="6403966"/>
            <a:ext cx="228714" cy="1910196"/>
          </a:xfrm>
          <a:prstGeom prst="rect">
            <a:avLst/>
          </a:prstGeom>
          <a:solidFill>
            <a:srgbClr val="C68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C7EFA18B-07D8-FA08-C6F6-B1935DA62D41}"/>
              </a:ext>
            </a:extLst>
          </p:cNvPr>
          <p:cNvSpPr txBox="1"/>
          <p:nvPr/>
        </p:nvSpPr>
        <p:spPr>
          <a:xfrm>
            <a:off x="12409568" y="347153"/>
            <a:ext cx="5166360" cy="338554"/>
          </a:xfrm>
          <a:prstGeom prst="rect">
            <a:avLst/>
          </a:prstGeom>
          <a:noFill/>
        </p:spPr>
        <p:txBody>
          <a:bodyPr wrap="square">
            <a:spAutoFit/>
          </a:bodyPr>
          <a:lstStyle/>
          <a:p>
            <a:pPr algn="l"/>
            <a:r>
              <a:rPr sz="1600" b="1" i="0" dirty="0">
                <a:solidFill>
                  <a:srgbClr val="4A1C0A"/>
                </a:solidFill>
              </a:rPr>
              <a:t>Coffee</a:t>
            </a:r>
          </a:p>
        </p:txBody>
      </p:sp>
      <p:sp>
        <p:nvSpPr>
          <p:cNvPr id="20" name="TextBox 19">
            <a:extLst>
              <a:ext uri="{FF2B5EF4-FFF2-40B4-BE49-F238E27FC236}">
                <a16:creationId xmlns:a16="http://schemas.microsoft.com/office/drawing/2014/main" id="{91E86ED4-0ADF-06F0-3508-383F50E16534}"/>
              </a:ext>
            </a:extLst>
          </p:cNvPr>
          <p:cNvSpPr txBox="1"/>
          <p:nvPr/>
        </p:nvSpPr>
        <p:spPr>
          <a:xfrm>
            <a:off x="12457676" y="2865657"/>
            <a:ext cx="5166360" cy="646331"/>
          </a:xfrm>
          <a:prstGeom prst="rect">
            <a:avLst/>
          </a:prstGeom>
          <a:noFill/>
        </p:spPr>
        <p:txBody>
          <a:bodyPr wrap="square">
            <a:spAutoFit/>
          </a:bodyPr>
          <a:lstStyle/>
          <a:p>
            <a:r>
              <a:rPr lang="en-US">
                <a:solidFill>
                  <a:srgbClr val="5C4033"/>
                </a:solidFill>
              </a:rPr>
              <a:t>R196,406 — strong second
28.1% of total revenue</a:t>
            </a:r>
            <a:endParaRPr lang="en-US" dirty="0">
              <a:solidFill>
                <a:srgbClr val="5C4033"/>
              </a:solidFill>
            </a:endParaRPr>
          </a:p>
        </p:txBody>
      </p:sp>
      <p:sp>
        <p:nvSpPr>
          <p:cNvPr id="21" name="TextBox 20"/>
          <p:cNvSpPr txBox="1"/>
          <p:nvPr/>
        </p:nvSpPr>
        <p:spPr>
          <a:xfrm>
            <a:off x="12444825" y="2333557"/>
            <a:ext cx="5166360" cy="338554"/>
          </a:xfrm>
          <a:prstGeom prst="rect">
            <a:avLst/>
          </a:prstGeom>
          <a:noFill/>
        </p:spPr>
        <p:txBody>
          <a:bodyPr wrap="square">
            <a:spAutoFit/>
          </a:bodyPr>
          <a:lstStyle/>
          <a:p>
            <a:pPr algn="l"/>
            <a:r>
              <a:rPr sz="1600" b="1" i="0" dirty="0">
                <a:solidFill>
                  <a:srgbClr val="4A1C0A"/>
                </a:solidFill>
              </a:rPr>
              <a:t>Tea</a:t>
            </a:r>
          </a:p>
        </p:txBody>
      </p:sp>
      <p:sp>
        <p:nvSpPr>
          <p:cNvPr id="22" name="TextBox 21"/>
          <p:cNvSpPr txBox="1"/>
          <p:nvPr/>
        </p:nvSpPr>
        <p:spPr>
          <a:xfrm>
            <a:off x="12513120" y="5068589"/>
            <a:ext cx="5166360" cy="646331"/>
          </a:xfrm>
          <a:prstGeom prst="rect">
            <a:avLst/>
          </a:prstGeom>
          <a:noFill/>
        </p:spPr>
        <p:txBody>
          <a:bodyPr wrap="square">
            <a:spAutoFit/>
          </a:bodyPr>
          <a:lstStyle/>
          <a:p>
            <a:pPr algn="l"/>
            <a:r>
              <a:rPr b="0" i="0" dirty="0">
                <a:solidFill>
                  <a:srgbClr val="5C4033"/>
                </a:solidFill>
              </a:rPr>
              <a:t>R40,085 (5.7%) — low despite
high coffee demand </a:t>
            </a:r>
          </a:p>
        </p:txBody>
      </p:sp>
      <p:sp>
        <p:nvSpPr>
          <p:cNvPr id="23" name="TextBox 22">
            <a:extLst>
              <a:ext uri="{FF2B5EF4-FFF2-40B4-BE49-F238E27FC236}">
                <a16:creationId xmlns:a16="http://schemas.microsoft.com/office/drawing/2014/main" id="{03F3531C-7332-2815-4274-49B0FD0F5D56}"/>
              </a:ext>
            </a:extLst>
          </p:cNvPr>
          <p:cNvSpPr txBox="1"/>
          <p:nvPr/>
        </p:nvSpPr>
        <p:spPr>
          <a:xfrm>
            <a:off x="12409568" y="4525253"/>
            <a:ext cx="5166360" cy="338554"/>
          </a:xfrm>
          <a:prstGeom prst="rect">
            <a:avLst/>
          </a:prstGeom>
          <a:noFill/>
        </p:spPr>
        <p:txBody>
          <a:bodyPr wrap="square">
            <a:spAutoFit/>
          </a:bodyPr>
          <a:lstStyle/>
          <a:p>
            <a:pPr algn="l"/>
            <a:r>
              <a:rPr sz="1600" b="1" i="0" dirty="0">
                <a:solidFill>
                  <a:srgbClr val="4A1C0A"/>
                </a:solidFill>
              </a:rPr>
              <a:t>Coffee Beans</a:t>
            </a:r>
          </a:p>
        </p:txBody>
      </p:sp>
      <p:sp>
        <p:nvSpPr>
          <p:cNvPr id="24" name="TextBox 23"/>
          <p:cNvSpPr txBox="1"/>
          <p:nvPr/>
        </p:nvSpPr>
        <p:spPr>
          <a:xfrm>
            <a:off x="12587614" y="7164950"/>
            <a:ext cx="5166360" cy="646331"/>
          </a:xfrm>
          <a:prstGeom prst="rect">
            <a:avLst/>
          </a:prstGeom>
          <a:noFill/>
        </p:spPr>
        <p:txBody>
          <a:bodyPr wrap="square">
            <a:spAutoFit/>
          </a:bodyPr>
          <a:lstStyle/>
          <a:p>
            <a:pPr algn="l"/>
            <a:r>
              <a:rPr b="0" i="0" dirty="0" err="1">
                <a:solidFill>
                  <a:srgbClr val="5C4033"/>
                </a:solidFill>
              </a:rPr>
              <a:t>Flavours</a:t>
            </a:r>
            <a:r>
              <a:rPr b="0" i="0" dirty="0">
                <a:solidFill>
                  <a:srgbClr val="5C4033"/>
                </a:solidFill>
              </a:rPr>
              <a:t> + Loose Tea + Packaged Choc
= R24,030 combined (3.4%) — review</a:t>
            </a:r>
          </a:p>
        </p:txBody>
      </p:sp>
      <p:sp>
        <p:nvSpPr>
          <p:cNvPr id="25" name="TextBox 24"/>
          <p:cNvSpPr txBox="1"/>
          <p:nvPr/>
        </p:nvSpPr>
        <p:spPr>
          <a:xfrm>
            <a:off x="12561456" y="6594031"/>
            <a:ext cx="5166360" cy="338554"/>
          </a:xfrm>
          <a:prstGeom prst="rect">
            <a:avLst/>
          </a:prstGeom>
          <a:noFill/>
        </p:spPr>
        <p:txBody>
          <a:bodyPr wrap="square">
            <a:spAutoFit/>
          </a:bodyPr>
          <a:lstStyle/>
          <a:p>
            <a:pPr algn="l"/>
            <a:r>
              <a:rPr sz="1600" b="1" i="0" dirty="0">
                <a:solidFill>
                  <a:srgbClr val="4A1C0A"/>
                </a:solidFill>
              </a:rPr>
              <a:t> Others (3 cats)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a:p>
        </p:txBody>
      </p:sp>
      <p:sp>
        <p:nvSpPr>
          <p:cNvPr id="3" name="Freeform 3"/>
          <p:cNvSpPr/>
          <p:nvPr/>
        </p:nvSpPr>
        <p:spPr>
          <a:xfrm>
            <a:off x="1028700" y="727190"/>
            <a:ext cx="702015" cy="596074"/>
          </a:xfrm>
          <a:custGeom>
            <a:avLst/>
            <a:gdLst/>
            <a:ahLst/>
            <a:cxnLst/>
            <a:rect l="l" t="t" r="r" b="b"/>
            <a:pathLst>
              <a:path w="702015" h="596074">
                <a:moveTo>
                  <a:pt x="0" y="0"/>
                </a:moveTo>
                <a:lnTo>
                  <a:pt x="702015" y="0"/>
                </a:lnTo>
                <a:lnTo>
                  <a:pt x="702015" y="596074"/>
                </a:lnTo>
                <a:lnTo>
                  <a:pt x="0" y="59607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a:off x="421709" y="2928968"/>
            <a:ext cx="8722291" cy="6895294"/>
          </a:xfrm>
          <a:custGeom>
            <a:avLst/>
            <a:gdLst/>
            <a:ahLst/>
            <a:cxnLst/>
            <a:rect l="l" t="t" r="r" b="b"/>
            <a:pathLst>
              <a:path w="8722291" h="6895294">
                <a:moveTo>
                  <a:pt x="0" y="0"/>
                </a:moveTo>
                <a:lnTo>
                  <a:pt x="8722291" y="0"/>
                </a:lnTo>
                <a:lnTo>
                  <a:pt x="8722291" y="6895293"/>
                </a:lnTo>
                <a:lnTo>
                  <a:pt x="0" y="6895293"/>
                </a:lnTo>
                <a:lnTo>
                  <a:pt x="0" y="0"/>
                </a:lnTo>
                <a:close/>
              </a:path>
            </a:pathLst>
          </a:custGeom>
          <a:blipFill>
            <a:blip r:embed="rId4"/>
            <a:stretch>
              <a:fillRect t="-24771" b="-26494"/>
            </a:stretch>
          </a:blipFill>
        </p:spPr>
        <p:txBody>
          <a:bodyPr/>
          <a:lstStyle/>
          <a:p>
            <a:endParaRPr/>
          </a:p>
        </p:txBody>
      </p:sp>
      <p:sp>
        <p:nvSpPr>
          <p:cNvPr id="5" name="TextBox 5"/>
          <p:cNvSpPr txBox="1"/>
          <p:nvPr/>
        </p:nvSpPr>
        <p:spPr>
          <a:xfrm>
            <a:off x="2136761" y="1610499"/>
            <a:ext cx="7374049" cy="880319"/>
          </a:xfrm>
          <a:prstGeom prst="rect">
            <a:avLst/>
          </a:prstGeom>
        </p:spPr>
        <p:txBody>
          <a:bodyPr lIns="0" tIns="0" rIns="0" bIns="0" rtlCol="0" anchor="t">
            <a:spAutoFit/>
          </a:bodyPr>
          <a:lstStyle/>
          <a:p>
            <a:pPr algn="l">
              <a:lnSpc>
                <a:spcPts val="6800"/>
              </a:lnSpc>
              <a:spcBef>
                <a:spcPct val="0"/>
              </a:spcBef>
            </a:pPr>
            <a:r>
              <a:rPr lang="en-US" sz="4857" b="1">
                <a:solidFill>
                  <a:srgbClr val="512615"/>
                </a:solidFill>
                <a:latin typeface="Poppins Bold"/>
                <a:ea typeface="Poppins Bold"/>
                <a:cs typeface="Poppins Bold"/>
                <a:sym typeface="Poppins Bold"/>
              </a:rPr>
              <a:t>Recommendations</a:t>
            </a:r>
          </a:p>
        </p:txBody>
      </p:sp>
      <p:sp>
        <p:nvSpPr>
          <p:cNvPr id="6" name="TextBox 6"/>
          <p:cNvSpPr txBox="1"/>
          <p:nvPr/>
        </p:nvSpPr>
        <p:spPr>
          <a:xfrm>
            <a:off x="9513085" y="1964033"/>
            <a:ext cx="8236848" cy="7334444"/>
          </a:xfrm>
          <a:prstGeom prst="rect">
            <a:avLst/>
          </a:prstGeom>
        </p:spPr>
        <p:txBody>
          <a:bodyPr lIns="0" tIns="0" rIns="0" bIns="0" rtlCol="0" anchor="t">
            <a:spAutoFit/>
          </a:bodyPr>
          <a:lstStyle/>
          <a:p>
            <a:pPr algn="l">
              <a:lnSpc>
                <a:spcPts val="4091"/>
              </a:lnSpc>
            </a:pPr>
            <a:r>
              <a:rPr lang="en-US" b="0" dirty="0">
                <a:solidFill>
                  <a:srgbClr val="512615"/>
                </a:solidFill>
                <a:latin typeface="Poppins Bold"/>
                <a:ea typeface="Poppins Bold"/>
                <a:cs typeface="Poppins Bold"/>
                <a:sym typeface="Poppins Bold"/>
              </a:rPr>
              <a:t>Revenue split: Coffee &amp; Tea = 67%  |  Bakery &amp; Drinking Chocolate = 22%  |  Coffee Beans = 6%  |  Others = 5%</a:t>
            </a:r>
            <a:r>
              <a:rPr lang="en-US" dirty="0">
                <a:solidFill>
                  <a:srgbClr val="512615"/>
                </a:solidFill>
                <a:latin typeface="Poppins"/>
                <a:ea typeface="Poppins"/>
                <a:cs typeface="Poppins"/>
                <a:sym typeface="Poppins"/>
              </a:rPr>
              <a:t> </a:t>
            </a:r>
          </a:p>
          <a:p>
            <a:pPr algn="l">
              <a:lnSpc>
                <a:spcPts val="4091"/>
              </a:lnSpc>
            </a:pPr>
            <a:endParaRPr lang="en-US" dirty="0">
              <a:solidFill>
                <a:srgbClr val="512615"/>
              </a:solidFill>
              <a:latin typeface="Poppins"/>
              <a:ea typeface="Poppins"/>
              <a:cs typeface="Poppins"/>
              <a:sym typeface="Poppins"/>
            </a:endParaRPr>
          </a:p>
          <a:p>
            <a:pPr marL="630916" lvl="1" indent="-315458" algn="l">
              <a:lnSpc>
                <a:spcPts val="4091"/>
              </a:lnSpc>
              <a:buFont typeface="Arial"/>
              <a:buChar char="•"/>
            </a:pPr>
            <a:r>
              <a:rPr lang="en-US" sz="2922" dirty="0">
                <a:solidFill>
                  <a:srgbClr val="512615"/>
                </a:solidFill>
                <a:latin typeface="Poppins"/>
                <a:ea typeface="Poppins"/>
                <a:cs typeface="Poppins"/>
                <a:sym typeface="Poppins"/>
              </a:rPr>
              <a:t>Focus inventory and marketing on the two high-performing categories and two secondary-performing categories. Promote the secondary performing categories by creating combo deals.</a:t>
            </a:r>
          </a:p>
          <a:p>
            <a:pPr marL="630916" lvl="1" indent="-315458" algn="l">
              <a:lnSpc>
                <a:spcPts val="4091"/>
              </a:lnSpc>
              <a:buFont typeface="Arial"/>
              <a:buChar char="•"/>
            </a:pPr>
            <a:r>
              <a:rPr lang="en-US" sz="2922" dirty="0">
                <a:solidFill>
                  <a:srgbClr val="512615"/>
                </a:solidFill>
                <a:latin typeface="Poppins"/>
                <a:ea typeface="Poppins"/>
                <a:cs typeface="Poppins"/>
                <a:sym typeface="Poppins"/>
              </a:rPr>
              <a:t>We can phase out the five weakest categories and use the space to grow coffee bean sales/or make promotions.</a:t>
            </a:r>
          </a:p>
          <a:p>
            <a:pPr marL="630916" lvl="1" indent="-315458" algn="l">
              <a:lnSpc>
                <a:spcPts val="4091"/>
              </a:lnSpc>
              <a:buFont typeface="Arial"/>
              <a:buChar char="•"/>
            </a:pPr>
            <a:r>
              <a:rPr lang="en-US" sz="2922" dirty="0">
                <a:solidFill>
                  <a:srgbClr val="512615"/>
                </a:solidFill>
                <a:latin typeface="Poppins"/>
                <a:ea typeface="Poppins"/>
                <a:cs typeface="Poppins"/>
                <a:sym typeface="Poppins"/>
              </a:rPr>
              <a:t>Hell’s Kitchen outperforms Astoria and Lower Manhattan in every category, so we can replicate the store’s success.</a:t>
            </a:r>
          </a:p>
        </p:txBody>
      </p:sp>
      <p:sp>
        <p:nvSpPr>
          <p:cNvPr id="7" name="TextBox 7"/>
          <p:cNvSpPr txBox="1"/>
          <p:nvPr/>
        </p:nvSpPr>
        <p:spPr>
          <a:xfrm>
            <a:off x="1899258" y="881939"/>
            <a:ext cx="3151681" cy="441325"/>
          </a:xfrm>
          <a:prstGeom prst="rect">
            <a:avLst/>
          </a:prstGeom>
        </p:spPr>
        <p:txBody>
          <a:bodyPr lIns="0" tIns="0" rIns="0" bIns="0" rtlCol="0" anchor="t">
            <a:spAutoFit/>
          </a:bodyPr>
          <a:lstStyle/>
          <a:p>
            <a:pPr algn="r">
              <a:lnSpc>
                <a:spcPts val="3499"/>
              </a:lnSpc>
              <a:spcBef>
                <a:spcPct val="0"/>
              </a:spcBef>
            </a:pPr>
            <a:r>
              <a:rPr lang="en-US" sz="2499" b="1">
                <a:solidFill>
                  <a:srgbClr val="512615"/>
                </a:solidFill>
                <a:latin typeface="Poppins Bold"/>
                <a:ea typeface="Poppins Bold"/>
                <a:cs typeface="Poppins Bold"/>
                <a:sym typeface="Poppins Bold"/>
              </a:rPr>
              <a:t>Bright Coffee Shop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a:p>
        </p:txBody>
      </p:sp>
      <p:sp>
        <p:nvSpPr>
          <p:cNvPr id="3" name="TextBox 3"/>
          <p:cNvSpPr txBox="1"/>
          <p:nvPr/>
        </p:nvSpPr>
        <p:spPr>
          <a:xfrm>
            <a:off x="536680" y="2371312"/>
            <a:ext cx="8186243" cy="4017062"/>
          </a:xfrm>
          <a:prstGeom prst="rect">
            <a:avLst/>
          </a:prstGeom>
        </p:spPr>
        <p:txBody>
          <a:bodyPr lIns="0" tIns="0" rIns="0" bIns="0" rtlCol="0" anchor="t">
            <a:spAutoFit/>
          </a:bodyPr>
          <a:lstStyle/>
          <a:p>
            <a:pPr marL="342900" indent="-342900" algn="just">
              <a:lnSpc>
                <a:spcPts val="3499"/>
              </a:lnSpc>
              <a:spcBef>
                <a:spcPct val="0"/>
              </a:spcBef>
              <a:buFont typeface="Arial" panose="020B0604020202020204" pitchFamily="34" charset="0"/>
              <a:buChar char="•"/>
            </a:pPr>
            <a:r>
              <a:rPr lang="en-US" sz="2499" dirty="0">
                <a:solidFill>
                  <a:srgbClr val="512615"/>
                </a:solidFill>
                <a:latin typeface="Poppins"/>
                <a:ea typeface="Poppins"/>
                <a:cs typeface="Poppins"/>
                <a:sym typeface="Poppins"/>
              </a:rPr>
              <a:t>Launch an afternoon happy hour during the afternoon lull hours. It captures less of the daily revenue compared to the morning peak hours.  Boost weekend sales with special promotions and improve weekday service speed.  Expand the menu with cold beverages, indulgent treats, and child-friendly items to attract new customer segments and boost performance during low months.</a:t>
            </a:r>
          </a:p>
        </p:txBody>
      </p:sp>
      <p:sp>
        <p:nvSpPr>
          <p:cNvPr id="4" name="TextBox 4"/>
          <p:cNvSpPr txBox="1"/>
          <p:nvPr/>
        </p:nvSpPr>
        <p:spPr>
          <a:xfrm>
            <a:off x="9320876" y="2371312"/>
            <a:ext cx="7046634" cy="3568221"/>
          </a:xfrm>
          <a:prstGeom prst="rect">
            <a:avLst/>
          </a:prstGeom>
        </p:spPr>
        <p:txBody>
          <a:bodyPr lIns="0" tIns="0" rIns="0" bIns="0" rtlCol="0" anchor="t">
            <a:spAutoFit/>
          </a:bodyPr>
          <a:lstStyle/>
          <a:p>
            <a:pPr marL="342900" indent="-342900" algn="just">
              <a:lnSpc>
                <a:spcPts val="3499"/>
              </a:lnSpc>
              <a:spcBef>
                <a:spcPct val="0"/>
              </a:spcBef>
              <a:buFont typeface="Arial" panose="020B0604020202020204" pitchFamily="34" charset="0"/>
              <a:buChar char="•"/>
            </a:pPr>
            <a:r>
              <a:rPr lang="en-US" sz="2499" dirty="0">
                <a:solidFill>
                  <a:srgbClr val="512615"/>
                </a:solidFill>
                <a:latin typeface="Poppins"/>
                <a:ea typeface="Poppins"/>
                <a:cs typeface="Poppins"/>
                <a:sym typeface="Poppins"/>
              </a:rPr>
              <a:t>Turn holidays into revenue opportunities. Host special events and limited-time offerings for major holidays. If the low performing categories are not phased out, launch a birthday rewards program offering special discounts and free items to customers on their birthdays, such as branded items. </a:t>
            </a:r>
          </a:p>
        </p:txBody>
      </p:sp>
      <p:sp>
        <p:nvSpPr>
          <p:cNvPr id="5" name="TextBox 5"/>
          <p:cNvSpPr txBox="1"/>
          <p:nvPr/>
        </p:nvSpPr>
        <p:spPr>
          <a:xfrm>
            <a:off x="536680" y="6340475"/>
            <a:ext cx="8186243" cy="3119380"/>
          </a:xfrm>
          <a:prstGeom prst="rect">
            <a:avLst/>
          </a:prstGeom>
        </p:spPr>
        <p:txBody>
          <a:bodyPr lIns="0" tIns="0" rIns="0" bIns="0" rtlCol="0" anchor="t">
            <a:spAutoFit/>
          </a:bodyPr>
          <a:lstStyle/>
          <a:p>
            <a:pPr marL="342900" indent="-342900" algn="just">
              <a:lnSpc>
                <a:spcPts val="3499"/>
              </a:lnSpc>
              <a:spcBef>
                <a:spcPct val="0"/>
              </a:spcBef>
              <a:buFont typeface="Arial" panose="020B0604020202020204" pitchFamily="34" charset="0"/>
              <a:buChar char="•"/>
            </a:pPr>
            <a:r>
              <a:rPr lang="en-US" sz="2499" dirty="0">
                <a:solidFill>
                  <a:srgbClr val="512615"/>
                </a:solidFill>
                <a:latin typeface="Poppins"/>
                <a:ea typeface="Poppins"/>
                <a:cs typeface="Poppins"/>
                <a:sym typeface="Poppins"/>
              </a:rPr>
              <a:t>Implement a social media strategy on few social media platforms. Build a loyal following and offer exclusive percentage-off discounts to followers to drive traffic during slow periods. Create simple, fun, and visually engaging activities at your coffee shop that content creators will want to film and share with their followers.</a:t>
            </a:r>
          </a:p>
        </p:txBody>
      </p:sp>
      <p:sp>
        <p:nvSpPr>
          <p:cNvPr id="6" name="TextBox 6"/>
          <p:cNvSpPr txBox="1"/>
          <p:nvPr/>
        </p:nvSpPr>
        <p:spPr>
          <a:xfrm>
            <a:off x="9144000" y="6340475"/>
            <a:ext cx="7046634" cy="3568221"/>
          </a:xfrm>
          <a:prstGeom prst="rect">
            <a:avLst/>
          </a:prstGeom>
        </p:spPr>
        <p:txBody>
          <a:bodyPr lIns="0" tIns="0" rIns="0" bIns="0" rtlCol="0" anchor="t">
            <a:spAutoFit/>
          </a:bodyPr>
          <a:lstStyle/>
          <a:p>
            <a:pPr marL="342900" indent="-342900" algn="just">
              <a:lnSpc>
                <a:spcPts val="3499"/>
              </a:lnSpc>
              <a:spcBef>
                <a:spcPct val="0"/>
              </a:spcBef>
              <a:buFont typeface="Arial" panose="020B0604020202020204" pitchFamily="34" charset="0"/>
              <a:buChar char="•"/>
            </a:pPr>
            <a:r>
              <a:rPr lang="en-US" sz="2499" dirty="0">
                <a:solidFill>
                  <a:srgbClr val="512615"/>
                </a:solidFill>
                <a:latin typeface="Poppins"/>
                <a:ea typeface="Poppins"/>
                <a:cs typeface="Poppins"/>
                <a:sym typeface="Poppins"/>
              </a:rPr>
              <a:t>Launch a loyalty card program where customers earn points or stamps with every purchase, redeemable for free items after a certain number of visits. Launch delivery and takeaway services through delivery platforms partnerships and takeaway-focused promotions, with special emphasis on last call hours.</a:t>
            </a:r>
          </a:p>
        </p:txBody>
      </p:sp>
      <p:sp>
        <p:nvSpPr>
          <p:cNvPr id="7" name="Freeform 7"/>
          <p:cNvSpPr/>
          <p:nvPr/>
        </p:nvSpPr>
        <p:spPr>
          <a:xfrm>
            <a:off x="827421" y="1028700"/>
            <a:ext cx="702015" cy="596074"/>
          </a:xfrm>
          <a:custGeom>
            <a:avLst/>
            <a:gdLst/>
            <a:ahLst/>
            <a:cxnLst/>
            <a:rect l="l" t="t" r="r" b="b"/>
            <a:pathLst>
              <a:path w="702015" h="596074">
                <a:moveTo>
                  <a:pt x="0" y="0"/>
                </a:moveTo>
                <a:lnTo>
                  <a:pt x="702014" y="0"/>
                </a:lnTo>
                <a:lnTo>
                  <a:pt x="702014" y="596074"/>
                </a:lnTo>
                <a:lnTo>
                  <a:pt x="0" y="59607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a:p>
        </p:txBody>
      </p:sp>
      <p:sp>
        <p:nvSpPr>
          <p:cNvPr id="8" name="TextBox 8"/>
          <p:cNvSpPr txBox="1"/>
          <p:nvPr/>
        </p:nvSpPr>
        <p:spPr>
          <a:xfrm>
            <a:off x="1711002" y="1183449"/>
            <a:ext cx="3151681" cy="441325"/>
          </a:xfrm>
          <a:prstGeom prst="rect">
            <a:avLst/>
          </a:prstGeom>
        </p:spPr>
        <p:txBody>
          <a:bodyPr lIns="0" tIns="0" rIns="0" bIns="0" rtlCol="0" anchor="t">
            <a:spAutoFit/>
          </a:bodyPr>
          <a:lstStyle/>
          <a:p>
            <a:pPr algn="r">
              <a:lnSpc>
                <a:spcPts val="3499"/>
              </a:lnSpc>
              <a:spcBef>
                <a:spcPct val="0"/>
              </a:spcBef>
            </a:pPr>
            <a:r>
              <a:rPr lang="en-US" sz="2499" b="1">
                <a:solidFill>
                  <a:srgbClr val="512615"/>
                </a:solidFill>
                <a:latin typeface="Poppins Bold"/>
                <a:ea typeface="Poppins Bold"/>
                <a:cs typeface="Poppins Bold"/>
                <a:sym typeface="Poppins Bold"/>
              </a:rPr>
              <a:t>Bright Coffee Shop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0A05"/>
        </a:solidFill>
        <a:effectLst/>
      </p:bgPr>
    </p:bg>
    <p:spTree>
      <p:nvGrpSpPr>
        <p:cNvPr id="1" name=""/>
        <p:cNvGrpSpPr/>
        <p:nvPr/>
      </p:nvGrpSpPr>
      <p:grpSpPr>
        <a:xfrm>
          <a:off x="0" y="0"/>
          <a:ext cx="0" cy="0"/>
          <a:chOff x="0" y="0"/>
          <a:chExt cx="0" cy="0"/>
        </a:xfrm>
      </p:grpSpPr>
      <p:sp>
        <p:nvSpPr>
          <p:cNvPr id="2" name="Rectangle 1"/>
          <p:cNvSpPr/>
          <p:nvPr/>
        </p:nvSpPr>
        <p:spPr>
          <a:xfrm>
            <a:off x="0" y="0"/>
            <a:ext cx="18288000" cy="1280160"/>
          </a:xfrm>
          <a:prstGeom prst="rect">
            <a:avLst/>
          </a:prstGeom>
          <a:solidFill>
            <a:srgbClr val="4A1C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2801600" cy="822960"/>
          </a:xfrm>
          <a:prstGeom prst="rect">
            <a:avLst/>
          </a:prstGeom>
          <a:noFill/>
        </p:spPr>
        <p:txBody>
          <a:bodyPr wrap="square">
            <a:spAutoFit/>
          </a:bodyPr>
          <a:lstStyle/>
          <a:p>
            <a:pPr algn="l"/>
            <a:r>
              <a:rPr sz="3000" b="1" i="0">
                <a:solidFill>
                  <a:srgbClr val="FFFFFF"/>
                </a:solidFill>
              </a:rPr>
              <a:t>NEXT STEPS</a:t>
            </a:r>
          </a:p>
        </p:txBody>
      </p:sp>
      <p:sp>
        <p:nvSpPr>
          <p:cNvPr id="4" name="TextBox 3"/>
          <p:cNvSpPr txBox="1"/>
          <p:nvPr/>
        </p:nvSpPr>
        <p:spPr>
          <a:xfrm>
            <a:off x="548640" y="1325880"/>
            <a:ext cx="17373600" cy="338554"/>
          </a:xfrm>
          <a:prstGeom prst="rect">
            <a:avLst/>
          </a:prstGeom>
          <a:noFill/>
        </p:spPr>
        <p:txBody>
          <a:bodyPr wrap="square">
            <a:spAutoFit/>
          </a:bodyPr>
          <a:lstStyle/>
          <a:p>
            <a:pPr algn="l"/>
            <a:r>
              <a:rPr sz="1600" b="0" i="1" dirty="0">
                <a:solidFill>
                  <a:schemeClr val="bg1"/>
                </a:solidFill>
              </a:rPr>
              <a:t>Turning insights into action </a:t>
            </a:r>
          </a:p>
        </p:txBody>
      </p:sp>
      <p:sp>
        <p:nvSpPr>
          <p:cNvPr id="5" name="Rectangle 4"/>
          <p:cNvSpPr/>
          <p:nvPr/>
        </p:nvSpPr>
        <p:spPr>
          <a:xfrm>
            <a:off x="457200" y="1920240"/>
            <a:ext cx="8321040" cy="2468880"/>
          </a:xfrm>
          <a:prstGeom prst="rect">
            <a:avLst/>
          </a:prstGeom>
          <a:solidFill>
            <a:srgbClr val="2A1206"/>
          </a:solidFill>
          <a:ln w="19050">
            <a:solidFill>
              <a:srgbClr val="5C2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920240"/>
            <a:ext cx="822960" cy="2468880"/>
          </a:xfrm>
          <a:prstGeom prst="rect">
            <a:avLst/>
          </a:prstGeom>
          <a:solidFill>
            <a:srgbClr val="5C2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743200"/>
            <a:ext cx="749808" cy="822960"/>
          </a:xfrm>
          <a:prstGeom prst="rect">
            <a:avLst/>
          </a:prstGeom>
          <a:noFill/>
        </p:spPr>
        <p:txBody>
          <a:bodyPr wrap="square">
            <a:spAutoFit/>
          </a:bodyPr>
          <a:lstStyle/>
          <a:p>
            <a:pPr algn="ctr"/>
            <a:r>
              <a:rPr sz="2000" b="1" i="0">
                <a:solidFill>
                  <a:srgbClr val="FFFFFF"/>
                </a:solidFill>
              </a:rPr>
              <a:t>01</a:t>
            </a:r>
          </a:p>
        </p:txBody>
      </p:sp>
      <p:sp>
        <p:nvSpPr>
          <p:cNvPr id="8" name="TextBox 7"/>
          <p:cNvSpPr txBox="1"/>
          <p:nvPr/>
        </p:nvSpPr>
        <p:spPr>
          <a:xfrm>
            <a:off x="1463039" y="2057400"/>
            <a:ext cx="7223759" cy="338554"/>
          </a:xfrm>
          <a:prstGeom prst="rect">
            <a:avLst/>
          </a:prstGeom>
          <a:noFill/>
        </p:spPr>
        <p:txBody>
          <a:bodyPr wrap="square">
            <a:spAutoFit/>
          </a:bodyPr>
          <a:lstStyle/>
          <a:p>
            <a:r>
              <a:rPr lang="en-US" sz="1600" b="1" dirty="0">
                <a:solidFill>
                  <a:schemeClr val="bg1"/>
                </a:solidFill>
              </a:rPr>
              <a:t>Automate Daily Sales Reporting</a:t>
            </a:r>
            <a:endParaRPr sz="1600" b="1" i="0" dirty="0">
              <a:solidFill>
                <a:srgbClr val="C68642"/>
              </a:solidFill>
            </a:endParaRPr>
          </a:p>
        </p:txBody>
      </p:sp>
      <p:sp>
        <p:nvSpPr>
          <p:cNvPr id="9" name="TextBox 8"/>
          <p:cNvSpPr txBox="1"/>
          <p:nvPr/>
        </p:nvSpPr>
        <p:spPr>
          <a:xfrm>
            <a:off x="1463039" y="2651760"/>
            <a:ext cx="7223759" cy="923330"/>
          </a:xfrm>
          <a:prstGeom prst="rect">
            <a:avLst/>
          </a:prstGeom>
          <a:noFill/>
        </p:spPr>
        <p:txBody>
          <a:bodyPr wrap="square">
            <a:spAutoFit/>
          </a:bodyPr>
          <a:lstStyle/>
          <a:p>
            <a:r>
              <a:rPr lang="en-US" dirty="0">
                <a:solidFill>
                  <a:schemeClr val="bg1"/>
                </a:solidFill>
              </a:rPr>
              <a:t>Set up a scheduled pipeline to automatically refresh sales data every morning, so the team always starts the day with up-to-date numbers if no manual work.</a:t>
            </a:r>
            <a:endParaRPr b="0" i="0" dirty="0">
              <a:solidFill>
                <a:schemeClr val="bg1"/>
              </a:solidFill>
            </a:endParaRPr>
          </a:p>
        </p:txBody>
      </p:sp>
      <p:sp>
        <p:nvSpPr>
          <p:cNvPr id="11" name="Rectangle 10"/>
          <p:cNvSpPr/>
          <p:nvPr/>
        </p:nvSpPr>
        <p:spPr>
          <a:xfrm>
            <a:off x="9235440" y="1920240"/>
            <a:ext cx="8321040" cy="2468880"/>
          </a:xfrm>
          <a:prstGeom prst="rect">
            <a:avLst/>
          </a:prstGeom>
          <a:solidFill>
            <a:srgbClr val="2A1206"/>
          </a:solidFill>
          <a:ln w="19050">
            <a:solidFill>
              <a:srgbClr val="7B3F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9235440" y="1920240"/>
            <a:ext cx="822960" cy="2468880"/>
          </a:xfrm>
          <a:prstGeom prst="rect">
            <a:avLst/>
          </a:prstGeom>
          <a:solidFill>
            <a:srgbClr val="7B3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81160" y="2743200"/>
            <a:ext cx="749808" cy="822960"/>
          </a:xfrm>
          <a:prstGeom prst="rect">
            <a:avLst/>
          </a:prstGeom>
          <a:noFill/>
        </p:spPr>
        <p:txBody>
          <a:bodyPr wrap="square">
            <a:spAutoFit/>
          </a:bodyPr>
          <a:lstStyle/>
          <a:p>
            <a:pPr algn="ctr"/>
            <a:r>
              <a:rPr sz="2000" b="1" i="0">
                <a:solidFill>
                  <a:srgbClr val="FFFFFF"/>
                </a:solidFill>
              </a:rPr>
              <a:t>02</a:t>
            </a:r>
          </a:p>
        </p:txBody>
      </p:sp>
      <p:sp>
        <p:nvSpPr>
          <p:cNvPr id="14" name="TextBox 13"/>
          <p:cNvSpPr txBox="1"/>
          <p:nvPr/>
        </p:nvSpPr>
        <p:spPr>
          <a:xfrm>
            <a:off x="10241280" y="2057400"/>
            <a:ext cx="7223759" cy="338554"/>
          </a:xfrm>
          <a:prstGeom prst="rect">
            <a:avLst/>
          </a:prstGeom>
          <a:noFill/>
        </p:spPr>
        <p:txBody>
          <a:bodyPr wrap="square">
            <a:spAutoFit/>
          </a:bodyPr>
          <a:lstStyle/>
          <a:p>
            <a:pPr algn="l"/>
            <a:r>
              <a:rPr sz="1600" b="1" i="0" dirty="0">
                <a:solidFill>
                  <a:schemeClr val="bg1"/>
                </a:solidFill>
              </a:rPr>
              <a:t>Launch Loyalty Card </a:t>
            </a:r>
            <a:r>
              <a:rPr sz="1600" b="1" i="0" dirty="0" err="1">
                <a:solidFill>
                  <a:schemeClr val="bg1"/>
                </a:solidFill>
              </a:rPr>
              <a:t>Programme</a:t>
            </a:r>
            <a:endParaRPr sz="1600" b="1" i="0" dirty="0">
              <a:solidFill>
                <a:schemeClr val="bg1"/>
              </a:solidFill>
            </a:endParaRPr>
          </a:p>
        </p:txBody>
      </p:sp>
      <p:sp>
        <p:nvSpPr>
          <p:cNvPr id="15" name="TextBox 14"/>
          <p:cNvSpPr txBox="1"/>
          <p:nvPr/>
        </p:nvSpPr>
        <p:spPr>
          <a:xfrm>
            <a:off x="10030968" y="2669935"/>
            <a:ext cx="7223759" cy="646331"/>
          </a:xfrm>
          <a:prstGeom prst="rect">
            <a:avLst/>
          </a:prstGeom>
          <a:noFill/>
        </p:spPr>
        <p:txBody>
          <a:bodyPr wrap="square">
            <a:spAutoFit/>
          </a:bodyPr>
          <a:lstStyle/>
          <a:p>
            <a:pPr algn="l"/>
            <a:r>
              <a:rPr b="0" i="0" dirty="0">
                <a:solidFill>
                  <a:schemeClr val="bg1"/>
                </a:solidFill>
              </a:rPr>
              <a:t>Stamp-based rewards during peak morning hours to increase repeat visits and capture more weekend customers</a:t>
            </a:r>
            <a:r>
              <a:rPr sz="1200" b="0" i="0" dirty="0">
                <a:solidFill>
                  <a:srgbClr val="D0BCA0"/>
                </a:solidFill>
              </a:rPr>
              <a:t>.</a:t>
            </a:r>
          </a:p>
        </p:txBody>
      </p:sp>
      <p:sp>
        <p:nvSpPr>
          <p:cNvPr id="17" name="Rectangle 16"/>
          <p:cNvSpPr/>
          <p:nvPr/>
        </p:nvSpPr>
        <p:spPr>
          <a:xfrm>
            <a:off x="457200" y="4553712"/>
            <a:ext cx="8321040" cy="2468880"/>
          </a:xfrm>
          <a:prstGeom prst="rect">
            <a:avLst/>
          </a:prstGeom>
          <a:solidFill>
            <a:srgbClr val="2A1206"/>
          </a:solidFill>
          <a:ln w="19050">
            <a:solidFill>
              <a:srgbClr val="A05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57200" y="4553712"/>
            <a:ext cx="822960" cy="2468880"/>
          </a:xfrm>
          <a:prstGeom prst="rect">
            <a:avLst/>
          </a:prstGeom>
          <a:solidFill>
            <a:srgbClr val="A05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5376672"/>
            <a:ext cx="749808" cy="822960"/>
          </a:xfrm>
          <a:prstGeom prst="rect">
            <a:avLst/>
          </a:prstGeom>
          <a:noFill/>
        </p:spPr>
        <p:txBody>
          <a:bodyPr wrap="square">
            <a:spAutoFit/>
          </a:bodyPr>
          <a:lstStyle/>
          <a:p>
            <a:pPr algn="ctr"/>
            <a:r>
              <a:rPr sz="2000" b="1" i="0">
                <a:solidFill>
                  <a:srgbClr val="FFFFFF"/>
                </a:solidFill>
              </a:rPr>
              <a:t>03</a:t>
            </a:r>
          </a:p>
        </p:txBody>
      </p:sp>
      <p:sp>
        <p:nvSpPr>
          <p:cNvPr id="20" name="TextBox 19"/>
          <p:cNvSpPr txBox="1"/>
          <p:nvPr/>
        </p:nvSpPr>
        <p:spPr>
          <a:xfrm>
            <a:off x="1463039" y="4690872"/>
            <a:ext cx="7223759" cy="338554"/>
          </a:xfrm>
          <a:prstGeom prst="rect">
            <a:avLst/>
          </a:prstGeom>
          <a:noFill/>
        </p:spPr>
        <p:txBody>
          <a:bodyPr wrap="square">
            <a:spAutoFit/>
          </a:bodyPr>
          <a:lstStyle/>
          <a:p>
            <a:r>
              <a:rPr lang="en-US" sz="1600" b="1" dirty="0">
                <a:solidFill>
                  <a:schemeClr val="bg1"/>
                </a:solidFill>
              </a:rPr>
              <a:t>Track Competitor Pricing &amp; Menu Trends</a:t>
            </a:r>
          </a:p>
        </p:txBody>
      </p:sp>
      <p:sp>
        <p:nvSpPr>
          <p:cNvPr id="21" name="TextBox 20"/>
          <p:cNvSpPr txBox="1"/>
          <p:nvPr/>
        </p:nvSpPr>
        <p:spPr>
          <a:xfrm>
            <a:off x="1463039" y="5285232"/>
            <a:ext cx="7223759" cy="1107996"/>
          </a:xfrm>
          <a:prstGeom prst="rect">
            <a:avLst/>
          </a:prstGeom>
          <a:noFill/>
        </p:spPr>
        <p:txBody>
          <a:bodyPr wrap="square">
            <a:spAutoFit/>
          </a:bodyPr>
          <a:lstStyle/>
          <a:p>
            <a:r>
              <a:rPr lang="en-US" dirty="0">
                <a:solidFill>
                  <a:schemeClr val="bg1"/>
                </a:solidFill>
              </a:rPr>
              <a:t>Conduct quarterly competitor audits — track menu pricing, promotions, and new product launches from nearby coffee shops to ensure Bright stays competitive and relevant.</a:t>
            </a:r>
          </a:p>
          <a:p>
            <a:endParaRPr sz="1200" b="0" i="0" dirty="0">
              <a:solidFill>
                <a:srgbClr val="D0BCA0"/>
              </a:solidFill>
            </a:endParaRPr>
          </a:p>
        </p:txBody>
      </p:sp>
      <p:sp>
        <p:nvSpPr>
          <p:cNvPr id="23" name="Rectangle 22"/>
          <p:cNvSpPr/>
          <p:nvPr/>
        </p:nvSpPr>
        <p:spPr>
          <a:xfrm>
            <a:off x="9235440" y="4553712"/>
            <a:ext cx="8321040" cy="2468880"/>
          </a:xfrm>
          <a:prstGeom prst="rect">
            <a:avLst/>
          </a:prstGeom>
          <a:solidFill>
            <a:srgbClr val="2A1206"/>
          </a:solidFill>
          <a:ln w="19050">
            <a:solidFill>
              <a:srgbClr val="C68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235440" y="4553712"/>
            <a:ext cx="822960" cy="2468880"/>
          </a:xfrm>
          <a:prstGeom prst="rect">
            <a:avLst/>
          </a:prstGeom>
          <a:solidFill>
            <a:srgbClr val="C686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281160" y="5376672"/>
            <a:ext cx="749808" cy="822960"/>
          </a:xfrm>
          <a:prstGeom prst="rect">
            <a:avLst/>
          </a:prstGeom>
          <a:noFill/>
        </p:spPr>
        <p:txBody>
          <a:bodyPr wrap="square">
            <a:spAutoFit/>
          </a:bodyPr>
          <a:lstStyle/>
          <a:p>
            <a:pPr algn="ctr"/>
            <a:r>
              <a:rPr sz="2000" b="1" i="0">
                <a:solidFill>
                  <a:srgbClr val="FFFFFF"/>
                </a:solidFill>
              </a:rPr>
              <a:t>04</a:t>
            </a:r>
          </a:p>
        </p:txBody>
      </p:sp>
      <p:sp>
        <p:nvSpPr>
          <p:cNvPr id="26" name="TextBox 25"/>
          <p:cNvSpPr txBox="1"/>
          <p:nvPr/>
        </p:nvSpPr>
        <p:spPr>
          <a:xfrm>
            <a:off x="10195560" y="4663440"/>
            <a:ext cx="7223759" cy="338554"/>
          </a:xfrm>
          <a:prstGeom prst="rect">
            <a:avLst/>
          </a:prstGeom>
          <a:noFill/>
        </p:spPr>
        <p:txBody>
          <a:bodyPr wrap="square">
            <a:spAutoFit/>
          </a:bodyPr>
          <a:lstStyle/>
          <a:p>
            <a:pPr algn="l"/>
            <a:r>
              <a:rPr sz="1600" b="1" i="0" dirty="0">
                <a:solidFill>
                  <a:schemeClr val="bg1"/>
                </a:solidFill>
              </a:rPr>
              <a:t>Replicate Hell's Kitchen Model</a:t>
            </a:r>
          </a:p>
        </p:txBody>
      </p:sp>
      <p:sp>
        <p:nvSpPr>
          <p:cNvPr id="27" name="TextBox 26"/>
          <p:cNvSpPr txBox="1"/>
          <p:nvPr/>
        </p:nvSpPr>
        <p:spPr>
          <a:xfrm>
            <a:off x="10241280" y="5285232"/>
            <a:ext cx="7223759" cy="646331"/>
          </a:xfrm>
          <a:prstGeom prst="rect">
            <a:avLst/>
          </a:prstGeom>
          <a:noFill/>
        </p:spPr>
        <p:txBody>
          <a:bodyPr wrap="square">
            <a:spAutoFit/>
          </a:bodyPr>
          <a:lstStyle/>
          <a:p>
            <a:pPr algn="l"/>
            <a:r>
              <a:rPr b="0" i="0" dirty="0">
                <a:solidFill>
                  <a:schemeClr val="bg1"/>
                </a:solidFill>
              </a:rPr>
              <a:t>Audit what drives Hell's Kitchen's edge, then roll out the same staffing and product mix to other locations.</a:t>
            </a:r>
          </a:p>
        </p:txBody>
      </p:sp>
      <p:sp>
        <p:nvSpPr>
          <p:cNvPr id="29" name="Rectangle 28"/>
          <p:cNvSpPr/>
          <p:nvPr/>
        </p:nvSpPr>
        <p:spPr>
          <a:xfrm>
            <a:off x="457200" y="7187184"/>
            <a:ext cx="8321040" cy="2468880"/>
          </a:xfrm>
          <a:prstGeom prst="rect">
            <a:avLst/>
          </a:prstGeom>
          <a:solidFill>
            <a:srgbClr val="2A1206"/>
          </a:solidFill>
          <a:ln w="19050">
            <a:solidFill>
              <a:srgbClr val="5C2D0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57200" y="7187184"/>
            <a:ext cx="822960" cy="2468880"/>
          </a:xfrm>
          <a:prstGeom prst="rect">
            <a:avLst/>
          </a:prstGeom>
          <a:solidFill>
            <a:srgbClr val="5C2D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02920" y="8010144"/>
            <a:ext cx="749808" cy="822960"/>
          </a:xfrm>
          <a:prstGeom prst="rect">
            <a:avLst/>
          </a:prstGeom>
          <a:noFill/>
        </p:spPr>
        <p:txBody>
          <a:bodyPr wrap="square">
            <a:spAutoFit/>
          </a:bodyPr>
          <a:lstStyle/>
          <a:p>
            <a:pPr algn="ctr"/>
            <a:r>
              <a:rPr sz="2000" b="1" i="0">
                <a:solidFill>
                  <a:srgbClr val="FFFFFF"/>
                </a:solidFill>
              </a:rPr>
              <a:t>05</a:t>
            </a:r>
          </a:p>
        </p:txBody>
      </p:sp>
      <p:sp>
        <p:nvSpPr>
          <p:cNvPr id="32" name="TextBox 31"/>
          <p:cNvSpPr txBox="1"/>
          <p:nvPr/>
        </p:nvSpPr>
        <p:spPr>
          <a:xfrm>
            <a:off x="1463039" y="7324344"/>
            <a:ext cx="7223759" cy="338554"/>
          </a:xfrm>
          <a:prstGeom prst="rect">
            <a:avLst/>
          </a:prstGeom>
          <a:noFill/>
        </p:spPr>
        <p:txBody>
          <a:bodyPr wrap="square">
            <a:spAutoFit/>
          </a:bodyPr>
          <a:lstStyle/>
          <a:p>
            <a:pPr algn="l"/>
            <a:r>
              <a:rPr sz="1600" b="1" i="0" dirty="0">
                <a:solidFill>
                  <a:schemeClr val="bg1"/>
                </a:solidFill>
              </a:rPr>
              <a:t>Phase Out Weak Categories</a:t>
            </a:r>
          </a:p>
        </p:txBody>
      </p:sp>
      <p:sp>
        <p:nvSpPr>
          <p:cNvPr id="33" name="TextBox 32"/>
          <p:cNvSpPr txBox="1"/>
          <p:nvPr/>
        </p:nvSpPr>
        <p:spPr>
          <a:xfrm>
            <a:off x="1463039" y="7918704"/>
            <a:ext cx="7223759" cy="646331"/>
          </a:xfrm>
          <a:prstGeom prst="rect">
            <a:avLst/>
          </a:prstGeom>
          <a:noFill/>
        </p:spPr>
        <p:txBody>
          <a:bodyPr wrap="square">
            <a:spAutoFit/>
          </a:bodyPr>
          <a:lstStyle/>
          <a:p>
            <a:pPr algn="l"/>
            <a:r>
              <a:rPr b="0" i="0" dirty="0">
                <a:solidFill>
                  <a:schemeClr val="bg1"/>
                </a:solidFill>
              </a:rPr>
              <a:t>60-day decision gate: run a promo campaign for </a:t>
            </a:r>
            <a:r>
              <a:rPr b="0" i="0" dirty="0" err="1">
                <a:solidFill>
                  <a:schemeClr val="bg1"/>
                </a:solidFill>
              </a:rPr>
              <a:t>Flavours</a:t>
            </a:r>
            <a:r>
              <a:rPr b="0" i="0" dirty="0">
                <a:solidFill>
                  <a:schemeClr val="bg1"/>
                </a:solidFill>
              </a:rPr>
              <a:t>, Loose Tea &amp; Packaged Choc — if no lift, phase out</a:t>
            </a:r>
            <a:r>
              <a:rPr sz="1200" b="0" i="0" dirty="0">
                <a:solidFill>
                  <a:srgbClr val="D0BCA0"/>
                </a:solidFill>
              </a:rPr>
              <a:t>.</a:t>
            </a:r>
          </a:p>
        </p:txBody>
      </p:sp>
      <p:sp>
        <p:nvSpPr>
          <p:cNvPr id="35" name="Rectangle 34"/>
          <p:cNvSpPr/>
          <p:nvPr/>
        </p:nvSpPr>
        <p:spPr>
          <a:xfrm>
            <a:off x="9235440" y="7187184"/>
            <a:ext cx="8321040" cy="2468880"/>
          </a:xfrm>
          <a:prstGeom prst="rect">
            <a:avLst/>
          </a:prstGeom>
          <a:solidFill>
            <a:srgbClr val="2A1206"/>
          </a:solidFill>
          <a:ln w="19050">
            <a:solidFill>
              <a:srgbClr val="7B3F1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235440" y="7187184"/>
            <a:ext cx="822960" cy="2468880"/>
          </a:xfrm>
          <a:prstGeom prst="rect">
            <a:avLst/>
          </a:prstGeom>
          <a:solidFill>
            <a:srgbClr val="7B3F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81160" y="8010144"/>
            <a:ext cx="749808" cy="822960"/>
          </a:xfrm>
          <a:prstGeom prst="rect">
            <a:avLst/>
          </a:prstGeom>
          <a:noFill/>
        </p:spPr>
        <p:txBody>
          <a:bodyPr wrap="square">
            <a:spAutoFit/>
          </a:bodyPr>
          <a:lstStyle/>
          <a:p>
            <a:pPr algn="ctr"/>
            <a:r>
              <a:rPr sz="2000" b="1" i="0">
                <a:solidFill>
                  <a:srgbClr val="FFFFFF"/>
                </a:solidFill>
              </a:rPr>
              <a:t>06</a:t>
            </a:r>
          </a:p>
        </p:txBody>
      </p:sp>
      <p:sp>
        <p:nvSpPr>
          <p:cNvPr id="38" name="TextBox 37"/>
          <p:cNvSpPr txBox="1"/>
          <p:nvPr/>
        </p:nvSpPr>
        <p:spPr>
          <a:xfrm>
            <a:off x="10195560" y="7324344"/>
            <a:ext cx="7223759" cy="338554"/>
          </a:xfrm>
          <a:prstGeom prst="rect">
            <a:avLst/>
          </a:prstGeom>
          <a:noFill/>
        </p:spPr>
        <p:txBody>
          <a:bodyPr wrap="square">
            <a:spAutoFit/>
          </a:bodyPr>
          <a:lstStyle/>
          <a:p>
            <a:r>
              <a:rPr lang="en-US" sz="1600" b="1" dirty="0">
                <a:solidFill>
                  <a:schemeClr val="bg1"/>
                </a:solidFill>
              </a:rPr>
              <a:t>Run Seasonal Promotions</a:t>
            </a:r>
            <a:endParaRPr sz="1600" b="1" i="0" dirty="0">
              <a:solidFill>
                <a:schemeClr val="bg1"/>
              </a:solidFill>
            </a:endParaRPr>
          </a:p>
        </p:txBody>
      </p:sp>
      <p:sp>
        <p:nvSpPr>
          <p:cNvPr id="39" name="TextBox 38"/>
          <p:cNvSpPr txBox="1"/>
          <p:nvPr/>
        </p:nvSpPr>
        <p:spPr>
          <a:xfrm>
            <a:off x="10241280" y="7918704"/>
            <a:ext cx="7223759" cy="923330"/>
          </a:xfrm>
          <a:prstGeom prst="rect">
            <a:avLst/>
          </a:prstGeom>
          <a:noFill/>
        </p:spPr>
        <p:txBody>
          <a:bodyPr wrap="square">
            <a:spAutoFit/>
          </a:bodyPr>
          <a:lstStyle/>
          <a:p>
            <a:r>
              <a:rPr lang="en-US" dirty="0">
                <a:solidFill>
                  <a:schemeClr val="bg1"/>
                </a:solidFill>
              </a:rPr>
              <a:t>Use the slow months (January and February) to run targeted promotions — special offers, limited-time menu items, and themed campaigns to drive foot traffic when sales dip.</a:t>
            </a:r>
            <a:endParaRPr sz="1200" b="0" i="0"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111" b="-9111"/>
            </a:stretch>
          </a:blipFill>
        </p:spPr>
        <p:txBody>
          <a:bodyPr/>
          <a:lstStyle/>
          <a:p>
            <a:endParaRPr/>
          </a:p>
        </p:txBody>
      </p:sp>
      <p:sp>
        <p:nvSpPr>
          <p:cNvPr id="3" name="Freeform 3"/>
          <p:cNvSpPr/>
          <p:nvPr/>
        </p:nvSpPr>
        <p:spPr>
          <a:xfrm>
            <a:off x="-14724" y="7255306"/>
            <a:ext cx="3340193" cy="3256688"/>
          </a:xfrm>
          <a:custGeom>
            <a:avLst/>
            <a:gdLst/>
            <a:ahLst/>
            <a:cxnLst/>
            <a:rect l="l" t="t" r="r" b="b"/>
            <a:pathLst>
              <a:path w="3340193" h="3256688">
                <a:moveTo>
                  <a:pt x="0" y="0"/>
                </a:moveTo>
                <a:lnTo>
                  <a:pt x="3340192" y="0"/>
                </a:lnTo>
                <a:lnTo>
                  <a:pt x="3340192" y="3256688"/>
                </a:lnTo>
                <a:lnTo>
                  <a:pt x="0" y="3256688"/>
                </a:lnTo>
                <a:lnTo>
                  <a:pt x="0"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a:p>
        </p:txBody>
      </p:sp>
      <p:sp>
        <p:nvSpPr>
          <p:cNvPr id="4" name="Freeform 4"/>
          <p:cNvSpPr/>
          <p:nvPr/>
        </p:nvSpPr>
        <p:spPr>
          <a:xfrm flipH="1">
            <a:off x="14148853" y="-996651"/>
            <a:ext cx="4765925" cy="4646777"/>
          </a:xfrm>
          <a:custGeom>
            <a:avLst/>
            <a:gdLst/>
            <a:ahLst/>
            <a:cxnLst/>
            <a:rect l="l" t="t" r="r" b="b"/>
            <a:pathLst>
              <a:path w="4765925" h="4646777">
                <a:moveTo>
                  <a:pt x="4765924" y="0"/>
                </a:moveTo>
                <a:lnTo>
                  <a:pt x="0" y="0"/>
                </a:lnTo>
                <a:lnTo>
                  <a:pt x="0" y="4646776"/>
                </a:lnTo>
                <a:lnTo>
                  <a:pt x="4765924" y="4646776"/>
                </a:lnTo>
                <a:lnTo>
                  <a:pt x="4765924" y="0"/>
                </a:lnTo>
                <a:close/>
              </a:path>
            </a:pathLst>
          </a:custGeom>
          <a:blipFill>
            <a:blip>
              <a:alphaModFix amt="41000"/>
              <a:extLst>
                <a:ext uri="{96DAC541-7B7A-43D3-8B79-37D633B846F1}">
                  <asvg:svgBlip xmlns:asvg="http://schemas.microsoft.com/office/drawing/2016/SVG/main" r:embed="rId3"/>
                </a:ext>
              </a:extLst>
            </a:blip>
            <a:stretch>
              <a:fillRect/>
            </a:stretch>
          </a:blipFill>
        </p:spPr>
        <p:txBody>
          <a:bodyPr/>
          <a:lstStyle/>
          <a:p>
            <a:endParaRPr/>
          </a:p>
        </p:txBody>
      </p:sp>
      <p:sp>
        <p:nvSpPr>
          <p:cNvPr id="5" name="Freeform 5"/>
          <p:cNvSpPr/>
          <p:nvPr/>
        </p:nvSpPr>
        <p:spPr>
          <a:xfrm>
            <a:off x="8048614" y="1028700"/>
            <a:ext cx="702015" cy="596074"/>
          </a:xfrm>
          <a:custGeom>
            <a:avLst/>
            <a:gdLst/>
            <a:ahLst/>
            <a:cxnLst/>
            <a:rect l="l" t="t" r="r" b="b"/>
            <a:pathLst>
              <a:path w="702015" h="596074">
                <a:moveTo>
                  <a:pt x="0" y="0"/>
                </a:moveTo>
                <a:lnTo>
                  <a:pt x="702014" y="0"/>
                </a:lnTo>
                <a:lnTo>
                  <a:pt x="702014" y="596074"/>
                </a:lnTo>
                <a:lnTo>
                  <a:pt x="0" y="59607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a:p>
        </p:txBody>
      </p:sp>
      <p:sp>
        <p:nvSpPr>
          <p:cNvPr id="6" name="Freeform 6"/>
          <p:cNvSpPr/>
          <p:nvPr/>
        </p:nvSpPr>
        <p:spPr>
          <a:xfrm>
            <a:off x="5486400" y="3189795"/>
            <a:ext cx="7315200" cy="3907410"/>
          </a:xfrm>
          <a:custGeom>
            <a:avLst/>
            <a:gdLst/>
            <a:ahLst/>
            <a:cxnLst/>
            <a:rect l="l" t="t" r="r" b="b"/>
            <a:pathLst>
              <a:path w="7315200" h="3907410">
                <a:moveTo>
                  <a:pt x="0" y="0"/>
                </a:moveTo>
                <a:lnTo>
                  <a:pt x="7315200" y="0"/>
                </a:lnTo>
                <a:lnTo>
                  <a:pt x="7315200" y="3907410"/>
                </a:lnTo>
                <a:lnTo>
                  <a:pt x="0" y="39074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7" name="Freeform 7"/>
          <p:cNvSpPr/>
          <p:nvPr/>
        </p:nvSpPr>
        <p:spPr>
          <a:xfrm>
            <a:off x="4904536" y="0"/>
            <a:ext cx="9533052" cy="9969090"/>
          </a:xfrm>
          <a:custGeom>
            <a:avLst/>
            <a:gdLst/>
            <a:ahLst/>
            <a:cxnLst/>
            <a:rect l="l" t="t" r="r" b="b"/>
            <a:pathLst>
              <a:path w="9533052" h="9969090">
                <a:moveTo>
                  <a:pt x="0" y="0"/>
                </a:moveTo>
                <a:lnTo>
                  <a:pt x="9533052" y="0"/>
                </a:lnTo>
                <a:lnTo>
                  <a:pt x="9533052" y="9969090"/>
                </a:lnTo>
                <a:lnTo>
                  <a:pt x="0" y="9969090"/>
                </a:lnTo>
                <a:lnTo>
                  <a:pt x="0" y="0"/>
                </a:lnTo>
                <a:close/>
              </a:path>
            </a:pathLst>
          </a:custGeom>
          <a:blipFill>
            <a:blip r:embed="rId6"/>
            <a:stretch>
              <a:fillRect t="-6583" b="-6583"/>
            </a:stretch>
          </a:blipFill>
        </p:spPr>
        <p:txBody>
          <a:bodyPr/>
          <a:lstStyle/>
          <a:p>
            <a:endParaRPr/>
          </a:p>
        </p:txBody>
      </p:sp>
      <p:sp>
        <p:nvSpPr>
          <p:cNvPr id="8" name="Freeform 8"/>
          <p:cNvSpPr/>
          <p:nvPr/>
        </p:nvSpPr>
        <p:spPr>
          <a:xfrm>
            <a:off x="-24195" y="326227"/>
            <a:ext cx="4137367" cy="4114800"/>
          </a:xfrm>
          <a:custGeom>
            <a:avLst/>
            <a:gdLst/>
            <a:ahLst/>
            <a:cxnLst/>
            <a:rect l="l" t="t" r="r" b="b"/>
            <a:pathLst>
              <a:path w="4137367" h="4114800">
                <a:moveTo>
                  <a:pt x="0" y="0"/>
                </a:moveTo>
                <a:lnTo>
                  <a:pt x="4137368" y="0"/>
                </a:lnTo>
                <a:lnTo>
                  <a:pt x="4137368"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a:p>
        </p:txBody>
      </p:sp>
      <p:sp>
        <p:nvSpPr>
          <p:cNvPr id="9" name="TextBox 9"/>
          <p:cNvSpPr txBox="1"/>
          <p:nvPr/>
        </p:nvSpPr>
        <p:spPr>
          <a:xfrm>
            <a:off x="2519356" y="2044665"/>
            <a:ext cx="13933832" cy="5451301"/>
          </a:xfrm>
          <a:prstGeom prst="rect">
            <a:avLst/>
          </a:prstGeom>
        </p:spPr>
        <p:txBody>
          <a:bodyPr lIns="0" tIns="0" rIns="0" bIns="0" rtlCol="0" anchor="t">
            <a:spAutoFit/>
          </a:bodyPr>
          <a:lstStyle/>
          <a:p>
            <a:pPr algn="ctr">
              <a:lnSpc>
                <a:spcPts val="21792"/>
              </a:lnSpc>
              <a:spcBef>
                <a:spcPct val="0"/>
              </a:spcBef>
            </a:pPr>
            <a:r>
              <a:rPr lang="en-US" sz="15565" b="1" dirty="0">
                <a:solidFill>
                  <a:srgbClr val="FFFFFF"/>
                </a:solidFill>
                <a:latin typeface="Poppins Bold"/>
                <a:ea typeface="Poppins Bold"/>
                <a:cs typeface="Poppins Bold"/>
                <a:sym typeface="Poppins Bold"/>
              </a:rPr>
              <a:t>THANK YOU</a:t>
            </a:r>
          </a:p>
          <a:p>
            <a:pPr algn="ctr">
              <a:lnSpc>
                <a:spcPts val="21792"/>
              </a:lnSpc>
              <a:spcBef>
                <a:spcPct val="0"/>
              </a:spcBef>
            </a:pPr>
            <a:r>
              <a:rPr lang="en-US" sz="15565" b="1" dirty="0">
                <a:solidFill>
                  <a:srgbClr val="FFFFFF"/>
                </a:solidFill>
                <a:latin typeface="Poppins Bold"/>
                <a:ea typeface="Poppins Bold"/>
                <a:cs typeface="Poppins Bold"/>
                <a:sym typeface="Poppins Bold"/>
              </a:rPr>
              <a:t>Q&amp;A?</a:t>
            </a:r>
          </a:p>
        </p:txBody>
      </p:sp>
      <p:sp>
        <p:nvSpPr>
          <p:cNvPr id="10" name="TextBox 10"/>
          <p:cNvSpPr txBox="1"/>
          <p:nvPr/>
        </p:nvSpPr>
        <p:spPr>
          <a:xfrm>
            <a:off x="8048614" y="1183449"/>
            <a:ext cx="3809935" cy="441325"/>
          </a:xfrm>
          <a:prstGeom prst="rect">
            <a:avLst/>
          </a:prstGeom>
        </p:spPr>
        <p:txBody>
          <a:bodyPr lIns="0" tIns="0" rIns="0" bIns="0" rtlCol="0" anchor="t">
            <a:spAutoFit/>
          </a:bodyPr>
          <a:lstStyle/>
          <a:p>
            <a:pPr algn="r">
              <a:lnSpc>
                <a:spcPts val="3499"/>
              </a:lnSpc>
              <a:spcBef>
                <a:spcPct val="0"/>
              </a:spcBef>
            </a:pPr>
            <a:r>
              <a:rPr lang="en-US" sz="2499" b="1">
                <a:solidFill>
                  <a:srgbClr val="FFFFFF"/>
                </a:solidFill>
                <a:latin typeface="Poppins Bold"/>
                <a:ea typeface="Poppins Bold"/>
                <a:cs typeface="Poppins Bold"/>
                <a:sym typeface="Poppins Bold"/>
              </a:rPr>
              <a:t>Bright Coffee Shop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TotalTime>
  <Words>1022</Words>
  <Application>Microsoft Office PowerPoint</Application>
  <PresentationFormat>Custom</PresentationFormat>
  <Paragraphs>103</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Poppins Bold</vt:lpstr>
      <vt:lpstr>Calibri</vt:lpstr>
      <vt:lpstr>Arial</vt:lpstr>
      <vt:lpstr>Canva Sans</vt:lpstr>
      <vt:lpstr>Canva Sans Bold</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Brown Illustrated Coffee Presentation</dc:title>
  <dc:creator>Alinah</dc:creator>
  <cp:lastModifiedBy>Alinah Matlala</cp:lastModifiedBy>
  <cp:revision>2</cp:revision>
  <dcterms:created xsi:type="dcterms:W3CDTF">2006-08-16T00:00:00Z</dcterms:created>
  <dcterms:modified xsi:type="dcterms:W3CDTF">2026-04-26T19:25:22Z</dcterms:modified>
  <dc:identifier>DAHFgdejxLg</dc:identifier>
</cp:coreProperties>
</file>